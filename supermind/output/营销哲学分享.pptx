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99943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C8C8C"/>
                </a:solidFill>
                <a:latin typeface="Georgia"/>
                <a:ea typeface="Songti SC"/>
                <a:cs typeface="Songti SC"/>
              </a:rPr>
              <a:t>营销的哲学底层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234440"/>
            <a:ext cx="219456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0" i="0">
                <a:solidFill>
                  <a:srgbClr val="F1EFEA"/>
                </a:solidFill>
                <a:latin typeface="Georgia"/>
                <a:ea typeface="Songti SC"/>
                <a:cs typeface="Songti SC"/>
              </a:rPr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9994392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23201B"/>
                </a:solidFill>
                <a:latin typeface="Georgia"/>
                <a:ea typeface="Songti SC"/>
                <a:cs typeface="Songti SC"/>
              </a:rPr>
              <a:t>我们如何做营销？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931920"/>
            <a:ext cx="999439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8C8C8C"/>
                </a:solidFill>
                <a:latin typeface="Georgia"/>
                <a:ea typeface="Songti SC"/>
                <a:cs typeface="Songti SC"/>
              </a:rPr>
              <a:t>小红书 CBD × 专家团队分享</a:t>
            </a:r>
          </a:p>
          <a:p>
            <a:pPr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500" b="0" i="0">
                <a:solidFill>
                  <a:srgbClr val="8C8C8C"/>
                </a:solidFill>
                <a:latin typeface="Georgia"/>
                <a:ea typeface="Songti SC"/>
                <a:cs typeface="Songti SC"/>
              </a:rPr>
              <a:t>逸凡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10543032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C8C8C"/>
                </a:solidFill>
                <a:latin typeface="Georgia"/>
                <a:ea typeface="Songti SC"/>
                <a:cs typeface="Songti SC"/>
              </a:rPr>
              <a:t>画面中央白底黑字，极简。大问号。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10896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9A"/>
                </a:solidFill>
                <a:latin typeface="Georgia"/>
                <a:ea typeface="Songti SC"/>
                <a:cs typeface="Songti SC"/>
              </a:rPr>
              <a:t>第2页 · 起点——我们日常在做什么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645920"/>
            <a:ext cx="9262872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3201B"/>
                </a:solidFill>
                <a:latin typeface="Georgia"/>
                <a:ea typeface="Songti SC"/>
                <a:cs typeface="Songti SC"/>
              </a:rPr>
              <a:t>大多数营销公司有方法论，但没有伦理学。</a:t>
            </a:r>
          </a:p>
          <a:p>
            <a:pPr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</a:pPr>
            <a:r>
              <a:rPr sz="1900" b="0" i="0">
                <a:solidFill>
                  <a:srgbClr val="23201B"/>
                </a:solidFill>
                <a:latin typeface="Georgia"/>
                <a:ea typeface="Songti SC"/>
                <a:cs typeface="Songti SC"/>
              </a:rPr>
              <a:t>我们知道怎么洞察、怎么定位、怎么制造内容、怎么投放、怎么增长。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91640" y="4160520"/>
            <a:ext cx="1417320" cy="566928"/>
          </a:xfrm>
          <a:prstGeom prst="roundRect">
            <a:avLst>
              <a:gd name="adj" fmla="val 12000"/>
            </a:avLst>
          </a:prstGeom>
          <a:solidFill>
            <a:srgbClr val="F2F0EB"/>
          </a:solidFill>
          <a:ln w="9525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8C8C8C"/>
                </a:solidFill>
                <a:latin typeface="Georgia"/>
                <a:ea typeface="Songti SC"/>
                <a:cs typeface="Songti SC"/>
              </a:rPr>
              <a:t>洞察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93008" y="4160520"/>
            <a:ext cx="1417320" cy="566928"/>
          </a:xfrm>
          <a:prstGeom prst="roundRect">
            <a:avLst>
              <a:gd name="adj" fmla="val 12000"/>
            </a:avLst>
          </a:prstGeom>
          <a:solidFill>
            <a:srgbClr val="F2F0EB"/>
          </a:solidFill>
          <a:ln w="9525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8C8C8C"/>
                </a:solidFill>
                <a:latin typeface="Georgia"/>
                <a:ea typeface="Songti SC"/>
                <a:cs typeface="Songti SC"/>
              </a:rPr>
              <a:t>定位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94376" y="4160520"/>
            <a:ext cx="1417320" cy="566928"/>
          </a:xfrm>
          <a:prstGeom prst="roundRect">
            <a:avLst>
              <a:gd name="adj" fmla="val 12000"/>
            </a:avLst>
          </a:prstGeom>
          <a:solidFill>
            <a:srgbClr val="F2F0EB"/>
          </a:solidFill>
          <a:ln w="9525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8C8C8C"/>
                </a:solidFill>
                <a:latin typeface="Georgia"/>
                <a:ea typeface="Songti SC"/>
                <a:cs typeface="Songti SC"/>
              </a:rPr>
              <a:t>内容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95744" y="4160520"/>
            <a:ext cx="1417320" cy="566928"/>
          </a:xfrm>
          <a:prstGeom prst="roundRect">
            <a:avLst>
              <a:gd name="adj" fmla="val 12000"/>
            </a:avLst>
          </a:prstGeom>
          <a:solidFill>
            <a:srgbClr val="F2F0EB"/>
          </a:solidFill>
          <a:ln w="9525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8C8C8C"/>
                </a:solidFill>
                <a:latin typeface="Georgia"/>
                <a:ea typeface="Songti SC"/>
                <a:cs typeface="Songti SC"/>
              </a:rPr>
              <a:t>投放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97112" y="4160520"/>
            <a:ext cx="1417320" cy="566928"/>
          </a:xfrm>
          <a:prstGeom prst="roundRect">
            <a:avLst>
              <a:gd name="adj" fmla="val 12000"/>
            </a:avLst>
          </a:prstGeom>
          <a:solidFill>
            <a:srgbClr val="F2F0EB"/>
          </a:solidFill>
          <a:ln w="9525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8C8C8C"/>
                </a:solidFill>
                <a:latin typeface="Georgia"/>
                <a:ea typeface="Songti SC"/>
                <a:cs typeface="Songti SC"/>
              </a:rPr>
              <a:t>增长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4892040"/>
            <a:ext cx="92628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B4B4B4"/>
                </a:solidFill>
                <a:latin typeface="Georgia"/>
                <a:ea typeface="Songti SC"/>
                <a:cs typeface="Songti SC"/>
              </a:rPr>
              <a:t>我们很少问：为什么？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43600"/>
            <a:ext cx="10543032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C8C8C"/>
                </a:solidFill>
                <a:latin typeface="Georgia"/>
                <a:ea typeface="Songti SC"/>
                <a:cs typeface="Songti SC"/>
              </a:rPr>
              <a:t>画面中五个方框依次排列：洞察 → 定位 → 内容 → 投放 → 增长。方框下面一片空白区域，标注"我们很少问：为什么？"。传达：我们很熟练地做，但很少追问做的理由。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10896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9A"/>
                </a:solidFill>
                <a:latin typeface="Georgia"/>
                <a:ea typeface="Songti SC"/>
                <a:cs typeface="Songti SC"/>
              </a:rPr>
              <a:t>第3页 · 追问——做营销的背后是什么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1371600"/>
            <a:ext cx="9079992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23201B"/>
                </a:solidFill>
                <a:latin typeface="Georgia"/>
                <a:ea typeface="Songti SC"/>
                <a:cs typeface="Songti SC"/>
              </a:rPr>
              <a:t>营销行业过去有一个非常隐蔽的前提：消费者是需要被影响的人。</a:t>
            </a:r>
          </a:p>
          <a:p>
            <a:pPr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650" b="0" i="0">
                <a:solidFill>
                  <a:srgbClr val="23201B"/>
                </a:solidFill>
                <a:latin typeface="Georgia"/>
                <a:ea typeface="Songti SC"/>
                <a:cs typeface="Songti SC"/>
              </a:rPr>
              <a:t>于是营销的基本动作就变成了：洞察消费者。找到消费者。说服消费者。刺激消费者。转化消费者。留住消费者。</a:t>
            </a:r>
          </a:p>
          <a:p>
            <a:pPr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650" b="0" i="0">
                <a:solidFill>
                  <a:srgbClr val="23201B"/>
                </a:solidFill>
                <a:latin typeface="Georgia"/>
                <a:ea typeface="Songti SC"/>
                <a:cs typeface="Songti SC"/>
              </a:rPr>
              <a:t>这个逻辑没有错。但如果你真的想改变这个行业——</a:t>
            </a:r>
          </a:p>
          <a:p>
            <a:pPr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</a:pPr>
            <a:r>
              <a:rPr sz="2000" b="1" i="0">
                <a:solidFill>
                  <a:srgbClr val="23201B"/>
                </a:solidFill>
                <a:latin typeface="Georgia"/>
                <a:ea typeface="Songti SC"/>
                <a:cs typeface="Songti SC"/>
              </a:rPr>
              <a:t>消费者不应该是营销的对象，而是营销共同创造的参与者。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43032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C8C8C"/>
                </a:solidFill>
                <a:latin typeface="Georgia"/>
                <a:ea typeface="Songti SC"/>
                <a:cs typeface="Songti SC"/>
              </a:rPr>
              <a:t>一条横线分开上下两个世界。线上方一排剪影人被箭头"影响"、"说服"、"转化"覆盖。线下方，同一个剪影人转过身来面对品牌，中间变成对话与共创。传达：从"把人当对象"到"把人当参与者"。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10896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9A"/>
                </a:solidFill>
                <a:latin typeface="Georgia"/>
                <a:ea typeface="Songti SC"/>
                <a:cs typeface="Songti SC"/>
              </a:rPr>
              <a:t>第4页 · 从 Influence 到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932688"/>
            <a:ext cx="96286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3201B"/>
                </a:solidFill>
                <a:latin typeface="Georgia"/>
                <a:ea typeface="Songti SC"/>
                <a:cs typeface="Songti SC"/>
              </a:rPr>
              <a:t>一旦消费者不再是被操作的对象，营销就从 Influence 开始走向 Transformation。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2194560"/>
            <a:ext cx="3566160" cy="1188720"/>
          </a:xfrm>
          <a:prstGeom prst="roundRect">
            <a:avLst>
              <a:gd name="adj" fmla="val 8000"/>
            </a:avLst>
          </a:prstGeom>
          <a:solidFill>
            <a:srgbClr val="E8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8A857C"/>
                </a:solidFill>
                <a:latin typeface="Georgia"/>
                <a:ea typeface="Songti SC"/>
                <a:cs typeface="Songti SC"/>
              </a:rPr>
              <a:t>Influence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303520" y="2606040"/>
            <a:ext cx="1554480" cy="457200"/>
          </a:xfrm>
          <a:prstGeom prst="rightArrow">
            <a:avLst/>
          </a:prstGeom>
          <a:solidFill>
            <a:srgbClr val="CFC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223760" y="2194560"/>
            <a:ext cx="356616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B8860B"/>
                </a:solidFill>
                <a:latin typeface="Georgia"/>
                <a:ea typeface="Songti SC"/>
                <a:cs typeface="Songti SC"/>
              </a:rPr>
              <a:t>Transformation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703320"/>
            <a:ext cx="962863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3201B"/>
                </a:solidFill>
                <a:latin typeface="Georgia"/>
                <a:ea typeface="Songti SC"/>
                <a:cs typeface="Songti SC"/>
              </a:rPr>
              <a:t>你不是想办法让一个人买东西。你是在设计一个东西，让这个人因为与你相遇，产生某种真实的改变。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526280"/>
            <a:ext cx="962863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3201B"/>
                </a:solidFill>
                <a:latin typeface="Georgia"/>
                <a:ea typeface="Songti SC"/>
                <a:cs typeface="Songti SC"/>
              </a:rPr>
              <a:t>这时候，营销真正的问题变成了：</a:t>
            </a:r>
            <a:r>
              <a:rPr sz="1700" b="1" i="0">
                <a:solidFill>
                  <a:srgbClr val="23201B"/>
                </a:solidFill>
                <a:latin typeface="Georgia"/>
                <a:ea typeface="Songti SC"/>
                <a:cs typeface="Songti SC"/>
              </a:rPr>
              <a:t>我们到底相信营销是什么？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43600"/>
            <a:ext cx="10543032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C8C8C"/>
                </a:solidFill>
                <a:latin typeface="Georgia"/>
                <a:ea typeface="Songti SC"/>
                <a:cs typeface="Songti SC"/>
              </a:rPr>
              <a:t>画面左侧"Influence"灰色大字，右侧"Transformation"金色大字。中间一个箭头从左指向右。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10896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9A"/>
                </a:solidFill>
                <a:latin typeface="Georgia"/>
                <a:ea typeface="Songti SC"/>
                <a:cs typeface="Songti SC"/>
              </a:rPr>
              <a:t>第5页 · 这个问题的答案在哲学里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1417320"/>
            <a:ext cx="9079992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23201B"/>
                </a:solidFill>
                <a:latin typeface="Georgia"/>
                <a:ea typeface="Songti SC"/>
                <a:cs typeface="Songti SC"/>
              </a:rPr>
              <a:t>一个真正想改变行业的人，不能只建立一套更有效的营销方法。</a:t>
            </a:r>
          </a:p>
          <a:p>
            <a:pPr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1650" b="0" i="0">
                <a:solidFill>
                  <a:srgbClr val="23201B"/>
                </a:solidFill>
                <a:latin typeface="Georgia"/>
                <a:ea typeface="Songti SC"/>
                <a:cs typeface="Songti SC"/>
              </a:rPr>
              <a:t>她需要建立一套——</a:t>
            </a:r>
          </a:p>
          <a:p>
            <a:pPr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850" b="1" i="0">
                <a:solidFill>
                  <a:srgbClr val="23201B"/>
                </a:solidFill>
                <a:latin typeface="Georgia"/>
                <a:ea typeface="Songti SC"/>
                <a:cs typeface="Songti SC"/>
              </a:rPr>
              <a:t>什么样的增长值得被追求、什么样的品牌值得被创造、什么样的消费者关系才是好的——的哲学。</a:t>
            </a:r>
          </a:p>
          <a:p>
            <a:pPr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sz="1650" b="0" i="0">
                <a:solidFill>
                  <a:srgbClr val="23201B"/>
                </a:solidFill>
                <a:latin typeface="Georgia"/>
                <a:ea typeface="Songti SC"/>
                <a:cs typeface="Songti SC"/>
              </a:rPr>
              <a:t>这时候，康德和亚里士多德恰好可以给营销一个非常好的骨架。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43032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C8C8C"/>
                </a:solidFill>
                <a:latin typeface="Georgia"/>
                <a:ea typeface="Songti SC"/>
                <a:cs typeface="Songti SC"/>
              </a:rPr>
              <a:t>第4页的"Transformation"放大至全屏，然后从中心裂开，透出"康德"和"亚里士多德"两个名字。两个箭头从营销问题指向两个哲学源头。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10896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9A"/>
                </a:solidFill>
                <a:latin typeface="Georgia"/>
                <a:ea typeface="Songti SC"/>
                <a:cs typeface="Songti SC"/>
              </a:rPr>
              <a:t>第6页 · 两个人，两个根本问题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960120"/>
            <a:ext cx="96286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3201B"/>
                </a:solidFill>
                <a:latin typeface="Georgia"/>
                <a:ea typeface="Songti SC"/>
                <a:cs typeface="Songti SC"/>
              </a:rPr>
              <a:t>一个人究竟应该怎样生活？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5029200" cy="3017520"/>
          </a:xfrm>
          <a:prstGeom prst="roundRect">
            <a:avLst>
              <a:gd name="adj" fmla="val 5000"/>
            </a:avLst>
          </a:prstGeom>
          <a:solidFill>
            <a:srgbClr val="FCF3F1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91440" bIns="9144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C0392B"/>
                </a:solidFill>
                <a:latin typeface="Georgia"/>
                <a:ea typeface="Songti SC"/>
                <a:cs typeface="Songti SC"/>
              </a:rPr>
              <a:t>康德</a:t>
            </a:r>
          </a:p>
          <a:p>
            <a:pPr algn="ctr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</a:pPr>
            <a:r>
              <a:rPr sz="1400" b="0" i="0">
                <a:solidFill>
                  <a:srgbClr val="23201B"/>
                </a:solidFill>
                <a:latin typeface="Georgia"/>
                <a:ea typeface="Songti SC"/>
                <a:cs typeface="Songti SC"/>
              </a:rPr>
              <a:t>会问：在什么情况下，一个行为才是正确的？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6792" y="1828800"/>
            <a:ext cx="5029200" cy="3017520"/>
          </a:xfrm>
          <a:prstGeom prst="roundRect">
            <a:avLst>
              <a:gd name="adj" fmla="val 5000"/>
            </a:avLst>
          </a:prstGeom>
          <a:solidFill>
            <a:srgbClr val="FBF6EA"/>
          </a:solidFill>
          <a:ln w="15875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91440" bIns="9144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B8860B"/>
                </a:solidFill>
                <a:latin typeface="Georgia"/>
                <a:ea typeface="Songti SC"/>
                <a:cs typeface="Songti SC"/>
              </a:rPr>
              <a:t>亚里士多德</a:t>
            </a:r>
          </a:p>
          <a:p>
            <a:pPr algn="ctr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</a:pPr>
            <a:r>
              <a:rPr sz="1400" b="0" i="0">
                <a:solidFill>
                  <a:srgbClr val="23201B"/>
                </a:solidFill>
                <a:latin typeface="Georgia"/>
                <a:ea typeface="Songti SC"/>
                <a:cs typeface="Songti SC"/>
              </a:rPr>
              <a:t>会问：我要成为什么样的人，才能过一种好的生活？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5074920"/>
            <a:ext cx="9628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3201B"/>
                </a:solidFill>
                <a:latin typeface="Georgia"/>
                <a:ea typeface="Songti SC"/>
                <a:cs typeface="Songti SC"/>
              </a:rPr>
              <a:t>前者把道德放在原则上，后者把道德放在人格与人生整体上。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43600"/>
            <a:ext cx="10543032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C8C8C"/>
                </a:solidFill>
                <a:latin typeface="Georgia"/>
                <a:ea typeface="Songti SC"/>
                <a:cs typeface="Songti SC"/>
              </a:rPr>
              <a:t>画面中央一条竖线分隔。左侧"康德"，右侧"亚里士多德"。上方共同的起点。两个箭头分开指向下方。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10896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8478"/>
                </a:solidFill>
                <a:latin typeface="Georgia"/>
                <a:ea typeface="Songti SC"/>
                <a:cs typeface="Songti SC"/>
              </a:rPr>
              <a:t>第7页 · 金句——康德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600200"/>
            <a:ext cx="9628632" cy="2103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0E6"/>
                </a:solidFill>
                <a:latin typeface="Georgia"/>
                <a:ea typeface="Songti SC"/>
                <a:cs typeface="Songti SC"/>
              </a:rPr>
              <a:t>大多数人只遵守规则。真正有美德的人，是因为他已经形成了一种稳定的人格。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977639"/>
            <a:ext cx="96286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B9B1A5"/>
                </a:solidFill>
                <a:latin typeface="Georgia"/>
                <a:ea typeface="Songti SC"/>
                <a:cs typeface="Songti SC"/>
              </a:rPr>
              <a:t>康德给你底线。告诉你什么事情绝对不能做。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166360" y="5504688"/>
            <a:ext cx="1828800" cy="502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14032" y="5413248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0392B"/>
                </a:solidFill>
                <a:latin typeface="Georgia"/>
                <a:ea typeface="Songti SC"/>
                <a:cs typeface="Songti SC"/>
              </a:rPr>
              <a:t>底线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43600"/>
            <a:ext cx="10543032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79E92"/>
                </a:solidFill>
                <a:latin typeface="Georgia"/>
                <a:ea typeface="Songti SC"/>
                <a:cs typeface="Songti SC"/>
              </a:rPr>
              <a:t>黑色背景。画面底部一条红色横线，标注"底线"。白字在线上方。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10896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9A"/>
                </a:solidFill>
                <a:latin typeface="Georgia"/>
                <a:ea typeface="Songti SC"/>
                <a:cs typeface="Songti SC"/>
              </a:rPr>
              <a:t>第8页 · 金句——亚里士多德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737360"/>
            <a:ext cx="9628632" cy="1920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3201B"/>
                </a:solidFill>
                <a:latin typeface="Georgia"/>
                <a:ea typeface="Songti SC"/>
                <a:cs typeface="Songti SC"/>
              </a:rPr>
              <a:t>人格不是一个抽象的自我描述，而是长期行为的沉淀。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023360"/>
            <a:ext cx="96286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B8860B"/>
                </a:solidFill>
                <a:latin typeface="Georgia"/>
                <a:ea typeface="Songti SC"/>
                <a:cs typeface="Songti SC"/>
              </a:rPr>
              <a:t>亚里士多德给你分寸。告诉你，在复杂现实里，究竟应该怎样做。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543032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C8C8C"/>
                </a:solidFill>
                <a:latin typeface="Georgia"/>
                <a:ea typeface="Songti SC"/>
                <a:cs typeface="Songti SC"/>
              </a:rPr>
              <a:t>一棵树从画面底部生长。树根标"每一次行动"，树干标"习惯"，树冠标"品格"。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10896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9A"/>
                </a:solidFill>
                <a:latin typeface="Georgia"/>
                <a:ea typeface="Songti SC"/>
                <a:cs typeface="Songti SC"/>
              </a:rPr>
              <a:t>第9页 · 两者的区别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5029200" cy="2468880"/>
          </a:xfrm>
          <a:prstGeom prst="roundRect">
            <a:avLst>
              <a:gd name="adj" fmla="val 5000"/>
            </a:avLst>
          </a:prstGeom>
          <a:solidFill>
            <a:srgbClr val="FCF3F1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1645920"/>
            <a:ext cx="502920" cy="914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0" y="1517904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0392B"/>
                </a:solidFill>
                <a:latin typeface="Georgia"/>
                <a:ea typeface="Songti SC"/>
                <a:cs typeface="Songti SC"/>
              </a:rPr>
              <a:t>法律 —— 什么不能做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44805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3201B"/>
                </a:solidFill>
                <a:latin typeface="Georgia"/>
                <a:ea typeface="Songti SC"/>
                <a:cs typeface="Songti SC"/>
              </a:rPr>
              <a:t>康德负责告诉你，什么事情绝对不能做。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6792" y="1371600"/>
            <a:ext cx="5029200" cy="2468880"/>
          </a:xfrm>
          <a:prstGeom prst="roundRect">
            <a:avLst>
              <a:gd name="adj" fmla="val 5000"/>
            </a:avLst>
          </a:prstGeom>
          <a:solidFill>
            <a:srgbClr val="FBF6EA"/>
          </a:solidFill>
          <a:ln w="15875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56832" y="1572768"/>
            <a:ext cx="219456" cy="219456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95160" y="1517904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B8860B"/>
                </a:solidFill>
                <a:latin typeface="Georgia"/>
                <a:ea typeface="Songti SC"/>
                <a:cs typeface="Songti SC"/>
              </a:rPr>
              <a:t>艺术 —— 在情境中找到恰当的尺度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1112" y="2103120"/>
            <a:ext cx="44805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3201B"/>
                </a:solidFill>
                <a:latin typeface="Georgia"/>
                <a:ea typeface="Songti SC"/>
                <a:cs typeface="Songti SC"/>
              </a:rPr>
              <a:t>亚里士多德负责告诉你，在复杂现实里，究竟应该怎样做。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114800"/>
            <a:ext cx="944575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3201B"/>
                </a:solidFill>
                <a:latin typeface="Georgia"/>
                <a:ea typeface="Songti SC"/>
                <a:cs typeface="Songti SC"/>
              </a:rPr>
              <a:t>康德给你底线。亚里士多德给你分寸。一个像法律。一个像艺术。</a:t>
            </a:r>
          </a:p>
          <a:p>
            <a:pPr algn="ctr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</a:pPr>
            <a:r>
              <a:rPr sz="1350" b="0" i="0">
                <a:solidFill>
                  <a:srgbClr val="8C8C8C"/>
                </a:solidFill>
                <a:latin typeface="Georgia"/>
                <a:ea typeface="Songti SC"/>
                <a:cs typeface="Songti SC"/>
              </a:rPr>
              <a:t>光有规则，也不够。因为现实世界很少给你标准答案。</a:t>
            </a:r>
          </a:p>
          <a:p>
            <a:pPr algn="ctr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50" b="0" i="0">
                <a:solidFill>
                  <a:srgbClr val="8C8C8C"/>
                </a:solidFill>
                <a:latin typeface="Georgia"/>
                <a:ea typeface="Songti SC"/>
                <a:cs typeface="Songti SC"/>
              </a:rPr>
              <a:t>真正困难的不是知道诚实是好的，而是知道在这个具体情境中，什么才叫真正的诚实。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43600"/>
            <a:ext cx="10543032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C8C8C"/>
                </a:solidFill>
                <a:latin typeface="Georgia"/>
                <a:ea typeface="Songti SC"/>
                <a:cs typeface="Songti SC"/>
              </a:rPr>
              <a:t>左右对比。左边"红线"图标标注"法律——什么不能做"。右边"调色盘"标注"艺术——在情境中找到恰当的尺度"。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10896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8478"/>
                </a:solidFill>
                <a:latin typeface="Georgia"/>
                <a:ea typeface="Songti SC"/>
                <a:cs typeface="Songti SC"/>
              </a:rPr>
              <a:t>第10页 · 过渡——到这里够了吗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4457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9B1A5"/>
                </a:solidFill>
                <a:latin typeface="Georgia"/>
                <a:ea typeface="Songti SC"/>
                <a:cs typeface="Songti SC"/>
              </a:rPr>
              <a:t>康德给你原则。亚里士多德给你人格。</a:t>
            </a:r>
          </a:p>
          <a:p>
            <a:pPr algn="ctr">
              <a:lnSpc>
                <a:spcPct val="110000"/>
              </a:lnSpc>
              <a:spcBef>
                <a:spcPts val="2200"/>
              </a:spcBef>
              <a:spcAft>
                <a:spcPts val="0"/>
              </a:spcAft>
            </a:pPr>
            <a:r>
              <a:rPr sz="3000" b="1" i="0">
                <a:solidFill>
                  <a:srgbClr val="F5F0E6"/>
                </a:solidFill>
                <a:latin typeface="Georgia"/>
                <a:ea typeface="Songti SC"/>
                <a:cs typeface="Songti SC"/>
              </a:rPr>
              <a:t>但到这里够了吗？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944575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9B1A5"/>
                </a:solidFill>
                <a:latin typeface="Georgia"/>
                <a:ea typeface="Songti SC"/>
                <a:cs typeface="Songti SC"/>
              </a:rPr>
              <a:t>如果你知道什么不能做，也知道什么值得做——</a:t>
            </a:r>
          </a:p>
          <a:p>
            <a:pPr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400" b="0" i="0">
                <a:solidFill>
                  <a:srgbClr val="B9B1A5"/>
                </a:solidFill>
                <a:latin typeface="Georgia"/>
                <a:ea typeface="Songti SC"/>
                <a:cs typeface="Songti SC"/>
              </a:rPr>
              <a:t>你怎么知道，做了之后，世界真的变好了？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27448" y="4892040"/>
            <a:ext cx="2743200" cy="685800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6E6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10543032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79E92"/>
                </a:solidFill>
                <a:latin typeface="Georgia"/>
                <a:ea typeface="Songti SC"/>
                <a:cs typeface="Songti SC"/>
              </a:rPr>
              <a:t>第5页的两个图标缩小移至画面上方。中间一个大字追问浮现。下方一个空白方框闪烁，暗示"还需要什么"。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10896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8478"/>
                </a:solidFill>
                <a:latin typeface="Georgia"/>
                <a:ea typeface="Songti SC"/>
                <a:cs typeface="Songti SC"/>
              </a:rPr>
              <a:t>第11页 · 问题——功利主义的引入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011680"/>
            <a:ext cx="9628632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0E6"/>
                </a:solidFill>
                <a:latin typeface="Georgia"/>
                <a:ea typeface="Songti SC"/>
                <a:cs typeface="Songti SC"/>
              </a:rPr>
              <a:t>功利主义和创造主义，有对应着的哲学家和他们的思想吗？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840480"/>
            <a:ext cx="9628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F5A52"/>
                </a:solidFill>
                <a:latin typeface="Georgia"/>
                <a:ea typeface="Songti SC"/>
                <a:cs typeface="Songti SC"/>
              </a:rPr>
              <a:t>边沁 · 密尔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543032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79E92"/>
                </a:solidFill>
                <a:latin typeface="Georgia"/>
                <a:ea typeface="Songti SC"/>
                <a:cs typeface="Songti SC"/>
              </a:rPr>
              <a:t>纯画面，一句话居中大字。极简过渡页。下方隐约浮现边沁和密尔的名字。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10896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9A"/>
                </a:solidFill>
                <a:latin typeface="Georgia"/>
                <a:ea typeface="Songti SC"/>
                <a:cs typeface="Songti SC"/>
              </a:rPr>
              <a:t>第12页 · 金句——功利主义的核心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554480"/>
            <a:ext cx="9628632" cy="2377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555555"/>
                </a:solidFill>
                <a:latin typeface="Georgia"/>
                <a:ea typeface="Songti SC"/>
                <a:cs typeface="Songti SC"/>
              </a:rPr>
              <a:t>功利主义是一个严格意义上的哲学流派，有非常明确的哲学家谱系。</a:t>
            </a:r>
          </a:p>
          <a:p>
            <a:pPr algn="ctr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</a:pPr>
            <a:r>
              <a:rPr sz="2300" b="1" i="0">
                <a:solidFill>
                  <a:srgbClr val="555555"/>
                </a:solidFill>
                <a:latin typeface="Georgia"/>
                <a:ea typeface="Songti SC"/>
                <a:cs typeface="Songti SC"/>
              </a:rPr>
              <a:t>一个行为的道德价值，取决于它造成了什么结果。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77639" y="4434840"/>
            <a:ext cx="1463040" cy="713232"/>
          </a:xfrm>
          <a:prstGeom prst="roundRect">
            <a:avLst>
              <a:gd name="adj" fmla="val 12000"/>
            </a:avLst>
          </a:prstGeom>
          <a:solidFill>
            <a:srgbClr val="EDEBE6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555555"/>
                </a:solidFill>
                <a:latin typeface="Georgia"/>
                <a:ea typeface="Songti SC"/>
                <a:cs typeface="Songti SC"/>
              </a:rPr>
              <a:t>行为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623560" y="4572000"/>
            <a:ext cx="1234440" cy="457200"/>
          </a:xfrm>
          <a:prstGeom prst="rightArrow">
            <a:avLst/>
          </a:prstGeom>
          <a:solidFill>
            <a:srgbClr val="C9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040880" y="4434840"/>
            <a:ext cx="1463040" cy="713232"/>
          </a:xfrm>
          <a:prstGeom prst="roundRect">
            <a:avLst>
              <a:gd name="adj" fmla="val 12000"/>
            </a:avLst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Georgia"/>
                <a:ea typeface="Songti SC"/>
                <a:cs typeface="Songti SC"/>
              </a:rPr>
              <a:t>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43600"/>
            <a:ext cx="10543032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C8C8C"/>
                </a:solidFill>
                <a:latin typeface="Georgia"/>
                <a:ea typeface="Songti SC"/>
                <a:cs typeface="Songti SC"/>
              </a:rPr>
              <a:t>画面中央一个天平。左边放"行为"，右边放"结果"。天平向右倾斜。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10896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9A"/>
                </a:solidFill>
                <a:latin typeface="Georgia"/>
                <a:ea typeface="Songti SC"/>
                <a:cs typeface="Songti SC"/>
              </a:rPr>
              <a:t>第13页 · 边沁——最大多数人的最大幸福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1280160"/>
            <a:ext cx="9079992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3201B"/>
                </a:solidFill>
                <a:latin typeface="Georgia"/>
                <a:ea typeface="Songti SC"/>
                <a:cs typeface="Songti SC"/>
              </a:rPr>
              <a:t>最重要的两个人：Jeremy Bentham，边沁。和 John Stuart Mill，约翰·斯图亚特·密尔。</a:t>
            </a:r>
          </a:p>
          <a:p>
            <a:pPr algn="ctr">
              <a:lnSpc>
                <a:spcPct val="122000"/>
              </a:lnSpc>
              <a:spcBef>
                <a:spcPts val="800"/>
              </a:spcBef>
              <a:spcAft>
                <a:spcPts val="0"/>
              </a:spcAft>
            </a:pPr>
            <a:r>
              <a:rPr sz="1550" b="0" i="0">
                <a:solidFill>
                  <a:srgbClr val="23201B"/>
                </a:solidFill>
                <a:latin typeface="Georgia"/>
                <a:ea typeface="Songti SC"/>
                <a:cs typeface="Songti SC"/>
              </a:rPr>
              <a:t>边沁试图把道德变成一种可以判断的东西。</a:t>
            </a:r>
          </a:p>
          <a:p>
            <a:pPr algn="ctr">
              <a:lnSpc>
                <a:spcPct val="122000"/>
              </a:lnSpc>
              <a:spcBef>
                <a:spcPts val="1000"/>
              </a:spcBef>
              <a:spcAft>
                <a:spcPts val="0"/>
              </a:spcAft>
            </a:pPr>
            <a:r>
              <a:rPr sz="1700" b="1" i="0">
                <a:solidFill>
                  <a:srgbClr val="555555"/>
                </a:solidFill>
                <a:latin typeface="Georgia"/>
                <a:ea typeface="Songti SC"/>
                <a:cs typeface="Songti SC"/>
              </a:rPr>
              <a:t>如果一个行为能够增加整体幸福、减少整体痛苦，那么它就是更好的行为。</a:t>
            </a:r>
          </a:p>
          <a:p>
            <a:pPr algn="ctr">
              <a:lnSpc>
                <a:spcPct val="122000"/>
              </a:lnSpc>
              <a:spcBef>
                <a:spcPts val="1000"/>
              </a:spcBef>
              <a:spcAft>
                <a:spcPts val="0"/>
              </a:spcAft>
            </a:pPr>
            <a:r>
              <a:rPr sz="1550" b="0" i="0">
                <a:solidFill>
                  <a:srgbClr val="23201B"/>
                </a:solidFill>
                <a:latin typeface="Georgia"/>
                <a:ea typeface="Songti SC"/>
                <a:cs typeface="Songti SC"/>
              </a:rPr>
              <a:t>所以他会问：这个决策最终让多少人变得更幸福？</a:t>
            </a:r>
          </a:p>
          <a:p>
            <a:pPr algn="ctr">
              <a:lnSpc>
                <a:spcPct val="122000"/>
              </a:lnSpc>
              <a:spcBef>
                <a:spcPts val="1200"/>
              </a:spcBef>
              <a:spcAft>
                <a:spcPts val="0"/>
              </a:spcAft>
            </a:pPr>
            <a:r>
              <a:rPr sz="1700" b="0" i="0">
                <a:solidFill>
                  <a:srgbClr val="555555"/>
                </a:solidFill>
                <a:latin typeface="Georgia"/>
                <a:ea typeface="Songti SC"/>
                <a:cs typeface="Songti SC"/>
              </a:rPr>
              <a:t>放到营销里——</a:t>
            </a:r>
            <a:r>
              <a:rPr sz="1700" b="1" i="0">
                <a:solidFill>
                  <a:srgbClr val="555555"/>
                </a:solidFill>
                <a:latin typeface="Georgia"/>
                <a:ea typeface="Songti SC"/>
                <a:cs typeface="Songti SC"/>
              </a:rPr>
              <a:t>不要问你的营销是不是漂亮，问它最终让多少人的生活变好了。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43032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C8C8C"/>
                </a:solidFill>
                <a:latin typeface="Georgia"/>
                <a:ea typeface="Songti SC"/>
                <a:cs typeface="Songti SC"/>
              </a:rPr>
              <a:t>一个柱状图向上增长，标注"整体幸福"。下方标注"边沁：最大多数人的最大幸福"。旁边列举营销对应场景：用户增加、满意度提高、投诉减少。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10896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9A"/>
                </a:solidFill>
                <a:latin typeface="Georgia"/>
                <a:ea typeface="Songti SC"/>
                <a:cs typeface="Songti SC"/>
              </a:rPr>
              <a:t>第14页 · 密尔——快乐有质量之分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1051560"/>
            <a:ext cx="9079992" cy="342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23201B"/>
                </a:solidFill>
                <a:latin typeface="Georgia"/>
                <a:ea typeface="Songti SC"/>
                <a:cs typeface="Songti SC"/>
              </a:rPr>
              <a:t>密尔发现一个问题：如果只计算快乐数量，会出现一个很奇怪的结果。</a:t>
            </a:r>
          </a:p>
          <a:p>
            <a:pPr algn="ctr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</a:pPr>
            <a:r>
              <a:rPr sz="1450" b="0" i="0">
                <a:solidFill>
                  <a:srgbClr val="23201B"/>
                </a:solidFill>
                <a:latin typeface="Georgia"/>
                <a:ea typeface="Songti SC"/>
                <a:cs typeface="Songti SC"/>
              </a:rPr>
              <a:t>假设：100个人每天刷低质量短视频，非常快乐。10个人读哲学、创作艺术、思考人生，获得比较复杂但更深的满足。</a:t>
            </a:r>
          </a:p>
          <a:p>
            <a:pPr algn="ctr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</a:pPr>
            <a:r>
              <a:rPr sz="1450" b="0" i="0">
                <a:solidFill>
                  <a:srgbClr val="23201B"/>
                </a:solidFill>
                <a:latin typeface="Georgia"/>
                <a:ea typeface="Songti SC"/>
                <a:cs typeface="Songti SC"/>
              </a:rPr>
              <a:t>难道前者一定比后者更有价值？密尔说：</a:t>
            </a:r>
            <a:r>
              <a:rPr sz="1450" b="1" i="0">
                <a:solidFill>
                  <a:srgbClr val="23201B"/>
                </a:solidFill>
                <a:latin typeface="Georgia"/>
                <a:ea typeface="Songti SC"/>
                <a:cs typeface="Songti SC"/>
              </a:rPr>
              <a:t>不一定。</a:t>
            </a:r>
          </a:p>
          <a:p>
            <a:pPr algn="ctr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</a:pPr>
            <a:r>
              <a:rPr sz="1450" b="0" i="0">
                <a:solidFill>
                  <a:srgbClr val="23201B"/>
                </a:solidFill>
                <a:latin typeface="Georgia"/>
                <a:ea typeface="Songti SC"/>
                <a:cs typeface="Songti SC"/>
              </a:rPr>
              <a:t>他提出一个非常重要的思想：</a:t>
            </a:r>
            <a:r>
              <a:rPr sz="1450" b="1" i="0">
                <a:solidFill>
                  <a:srgbClr val="23201B"/>
                </a:solidFill>
                <a:latin typeface="Georgia"/>
                <a:ea typeface="Songti SC"/>
                <a:cs typeface="Songti SC"/>
              </a:rPr>
              <a:t>快乐有质量之分。</a:t>
            </a:r>
            <a:r>
              <a:rPr sz="1450" b="0" i="0">
                <a:solidFill>
                  <a:srgbClr val="23201B"/>
                </a:solidFill>
                <a:latin typeface="Georgia"/>
                <a:ea typeface="Songti SC"/>
                <a:cs typeface="Songti SC"/>
              </a:rPr>
              <a:t> 有些快乐虽然数量少，但性质更高。</a:t>
            </a:r>
          </a:p>
          <a:p>
            <a:pPr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550" b="0" i="0">
                <a:solidFill>
                  <a:srgbClr val="B8860B"/>
                </a:solidFill>
                <a:latin typeface="Georgia"/>
                <a:ea typeface="Songti SC"/>
                <a:cs typeface="Songti SC"/>
              </a:rPr>
              <a:t>对营销的意义：</a:t>
            </a:r>
            <a:r>
              <a:rPr sz="1550" b="1" i="0">
                <a:solidFill>
                  <a:srgbClr val="B8860B"/>
                </a:solidFill>
                <a:latin typeface="Georgia"/>
                <a:ea typeface="Songti SC"/>
                <a:cs typeface="Songti SC"/>
              </a:rPr>
              <a:t>消费者想要的东西，不一定等于消费者真正需要的东西。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4663440"/>
            <a:ext cx="3383280" cy="822960"/>
          </a:xfrm>
          <a:prstGeom prst="roundRect">
            <a:avLst>
              <a:gd name="adj" fmla="val 10000"/>
            </a:avLst>
          </a:prstGeom>
          <a:solidFill>
            <a:srgbClr val="E8E5E0"/>
          </a:solidFill>
          <a:ln w="9525">
            <a:solidFill>
              <a:srgbClr val="D0C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5555"/>
                </a:solidFill>
                <a:latin typeface="Georgia"/>
                <a:ea typeface="Songti SC"/>
                <a:cs typeface="Songti SC"/>
              </a:rPr>
              <a:t>100人 × 低质量快乐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250" b="0" i="0">
                <a:solidFill>
                  <a:srgbClr val="555555"/>
                </a:solidFill>
                <a:latin typeface="Georgia"/>
                <a:ea typeface="Songti SC"/>
                <a:cs typeface="Songti SC"/>
              </a:rPr>
              <a:t>（浅，面积大）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19672" y="4663440"/>
            <a:ext cx="3383280" cy="822960"/>
          </a:xfrm>
          <a:prstGeom prst="roundRect">
            <a:avLst>
              <a:gd name="adj" fmla="val 10000"/>
            </a:avLst>
          </a:prstGeom>
          <a:solidFill>
            <a:srgbClr val="3A3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5F0E6"/>
                </a:solidFill>
                <a:latin typeface="Georgia"/>
                <a:ea typeface="Songti SC"/>
                <a:cs typeface="Songti SC"/>
              </a:rPr>
              <a:t>10人 × 高质量满足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250" b="0" i="0">
                <a:solidFill>
                  <a:srgbClr val="F5F0E6"/>
                </a:solidFill>
                <a:latin typeface="Georgia"/>
                <a:ea typeface="Songti SC"/>
                <a:cs typeface="Songti SC"/>
              </a:rPr>
              <a:t>（深，面积小但颜色浓郁）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5532120"/>
            <a:ext cx="48737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B8860B"/>
                </a:solidFill>
                <a:latin typeface="Georgia"/>
                <a:ea typeface="Songti SC"/>
                <a:cs typeface="Songti SC"/>
              </a:rPr>
              <a:t>密尔：不是所有快乐都等值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43600"/>
            <a:ext cx="10543032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C8C8C"/>
                </a:solidFill>
                <a:latin typeface="Georgia"/>
                <a:ea typeface="Songti SC"/>
                <a:cs typeface="Songti SC"/>
              </a:rPr>
              <a:t>两个对比框。左边"100人 × 低质量快乐（浅，面积大）"，右边"10人 × 高质量满足（深，面积小但颜色浓郁）"。中间一个天平，右边更重。标注"密尔：不是所有快乐都等值"。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10896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8478"/>
                </a:solidFill>
                <a:latin typeface="Georgia"/>
                <a:ea typeface="Songti SC"/>
                <a:cs typeface="Songti SC"/>
              </a:rPr>
              <a:t>第15页 · 过渡——功利主义够了没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234440"/>
            <a:ext cx="94457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9B1A5"/>
                </a:solidFill>
                <a:latin typeface="Georgia"/>
                <a:ea typeface="Songti SC"/>
                <a:cs typeface="Songti SC"/>
              </a:rPr>
              <a:t>功利主义告诉我们：看结果。</a:t>
            </a:r>
          </a:p>
          <a:p>
            <a:pPr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1400" b="0" i="0">
                <a:solidFill>
                  <a:srgbClr val="B9B1A5"/>
                </a:solidFill>
                <a:latin typeface="Georgia"/>
                <a:ea typeface="Songti SC"/>
                <a:cs typeface="Songti SC"/>
              </a:rPr>
              <a:t>但如果只谈结果，还有一个更深的问题没有回答——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514600"/>
            <a:ext cx="9628632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5F0E6"/>
                </a:solidFill>
                <a:latin typeface="Georgia"/>
                <a:ea typeface="Songti SC"/>
                <a:cs typeface="Songti SC"/>
              </a:rPr>
              <a:t>凭什么我们认为这个结果是好的？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023360"/>
            <a:ext cx="944575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B9B1A5"/>
                </a:solidFill>
                <a:latin typeface="Georgia"/>
                <a:ea typeface="Songti SC"/>
                <a:cs typeface="Songti SC"/>
              </a:rPr>
              <a:t>谁定义了什么是"幸福"？什么是"好结果"？什么是"好的生活"？</a:t>
            </a:r>
          </a:p>
          <a:p>
            <a:pPr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350" b="0" i="0">
                <a:solidFill>
                  <a:srgbClr val="B9B1A5"/>
                </a:solidFill>
                <a:latin typeface="Georgia"/>
                <a:ea typeface="Songti SC"/>
                <a:cs typeface="Songti SC"/>
              </a:rPr>
              <a:t>这些价值本身，是不是也是被制造出来的？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10543032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79E92"/>
                </a:solidFill>
                <a:latin typeface="Georgia"/>
                <a:ea typeface="Songti SC"/>
                <a:cs typeface="Songti SC"/>
              </a:rPr>
              <a:t>第8页的天平旁边，一只手指向天平上的"结果"球，发出质问光线。标注："谁定义了这个？"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10896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8478"/>
                </a:solidFill>
                <a:latin typeface="Georgia"/>
                <a:ea typeface="Songti SC"/>
                <a:cs typeface="Songti SC"/>
              </a:rPr>
              <a:t>第16页 · 问题——尼采的引入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234440"/>
            <a:ext cx="94457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B9B1A5"/>
                </a:solidFill>
                <a:latin typeface="Georgia"/>
                <a:ea typeface="Songti SC"/>
                <a:cs typeface="Songti SC"/>
              </a:rPr>
              <a:t>尼采不是在找更好的答案。他是在质疑问题本身的前提。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28632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A8A7D"/>
                </a:solidFill>
                <a:latin typeface="Georgia"/>
                <a:ea typeface="Songti SC"/>
                <a:cs typeface="Songti SC"/>
              </a:rPr>
              <a:t>为什么我们要接受现有的价值？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794760"/>
            <a:ext cx="944575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B9B1A5"/>
                </a:solidFill>
                <a:latin typeface="Georgia"/>
                <a:ea typeface="Songti SC"/>
                <a:cs typeface="Songti SC"/>
              </a:rPr>
              <a:t>善恶并非天然，它们有自己的历史来源。</a:t>
            </a:r>
          </a:p>
          <a:p>
            <a:pPr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350" b="0" i="0">
                <a:solidFill>
                  <a:srgbClr val="B9B1A5"/>
                </a:solidFill>
                <a:latin typeface="Georgia"/>
                <a:ea typeface="Songti SC"/>
                <a:cs typeface="Songti SC"/>
              </a:rPr>
              <a:t>不要把历史形成的价值，当成永恒真理。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10543032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79E92"/>
                </a:solidFill>
                <a:latin typeface="Georgia"/>
                <a:ea typeface="Songti SC"/>
                <a:cs typeface="Songti SC"/>
              </a:rPr>
              <a:t>一面被打碎的镜子。碎片中分别映出"成功""美""年轻""效率""高端"。传达：打碎旧价值的镜子。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10896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8478"/>
                </a:solidFill>
                <a:latin typeface="Georgia"/>
                <a:ea typeface="Songti SC"/>
                <a:cs typeface="Songti SC"/>
              </a:rPr>
              <a:t>第17页 · 金句——尼采的价值反诘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554480"/>
            <a:ext cx="9628632" cy="228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5F0E6"/>
                </a:solidFill>
                <a:latin typeface="Georgia"/>
                <a:ea typeface="Songti SC"/>
                <a:cs typeface="Songti SC"/>
              </a:rPr>
              <a:t>亚里士多德是在价值体系内部寻找最好的生活。</a:t>
            </a:r>
          </a:p>
          <a:p>
            <a:pPr algn="ctr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</a:pPr>
            <a:r>
              <a:rPr sz="2400" b="1" i="0">
                <a:solidFill>
                  <a:srgbClr val="1A8A7D"/>
                </a:solidFill>
                <a:latin typeface="Georgia"/>
                <a:ea typeface="Songti SC"/>
                <a:cs typeface="Songti SC"/>
              </a:rPr>
              <a:t>尼采是在价值体系之外重新审问价值体系本身。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069080"/>
            <a:ext cx="962863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B9B1A5"/>
                </a:solidFill>
                <a:latin typeface="Georgia"/>
                <a:ea typeface="Songti SC"/>
                <a:cs typeface="Songti SC"/>
              </a:rPr>
              <a:t>尼采最大的力量不是告诉你什么是好的。</a:t>
            </a:r>
          </a:p>
          <a:p>
            <a:pPr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450" b="0" i="0">
                <a:solidFill>
                  <a:srgbClr val="B9B1A5"/>
                </a:solidFill>
                <a:latin typeface="Georgia"/>
                <a:ea typeface="Songti SC"/>
                <a:cs typeface="Songti SC"/>
              </a:rPr>
              <a:t>而是告诉你：不要过早相信你已经知道什么是好的。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543032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79E92"/>
                </a:solidFill>
                <a:latin typeface="Georgia"/>
                <a:ea typeface="Songti SC"/>
                <a:cs typeface="Songti SC"/>
              </a:rPr>
              <a:t>一个三角形，一个顶点"亚里士多德：建构价值"，对角"尼采：重估价值"。内部箭头不断循环。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10896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8478"/>
                </a:solidFill>
                <a:latin typeface="Georgia"/>
                <a:ea typeface="Songti SC"/>
                <a:cs typeface="Songti SC"/>
              </a:rPr>
              <a:t>第18页 · 过渡——拆完了，然后呢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143000"/>
            <a:ext cx="9445752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9B1A5"/>
                </a:solidFill>
                <a:latin typeface="Georgia"/>
                <a:ea typeface="Songti SC"/>
                <a:cs typeface="Songti SC"/>
              </a:rPr>
              <a:t>如果只有尼采：你会不断拆。拆掉成功。拆掉美。拆掉善。拆掉品牌。拆掉消费者。拆掉市场。</a:t>
            </a:r>
          </a:p>
          <a:p>
            <a:pPr algn="ctr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 i="0">
                <a:solidFill>
                  <a:srgbClr val="B9B1A5"/>
                </a:solidFill>
                <a:latin typeface="Georgia"/>
                <a:ea typeface="Songti SC"/>
                <a:cs typeface="Songti SC"/>
              </a:rPr>
              <a:t>最后可能什么都可以质疑——但你仍然需要一个重新生活的能力。</a:t>
            </a:r>
          </a:p>
          <a:p>
            <a:pPr algn="ctr">
              <a:lnSpc>
                <a:spcPct val="125000"/>
              </a:lnSpc>
              <a:spcBef>
                <a:spcPts val="1400"/>
              </a:spcBef>
              <a:spcAft>
                <a:spcPts val="0"/>
              </a:spcAft>
            </a:pPr>
            <a:r>
              <a:rPr sz="1400" b="0" i="0">
                <a:solidFill>
                  <a:srgbClr val="B9B1A5"/>
                </a:solidFill>
                <a:latin typeface="Georgia"/>
                <a:ea typeface="Songti SC"/>
                <a:cs typeface="Songti SC"/>
              </a:rPr>
              <a:t>而老子的回答不是"再建一个新价值"。是——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246120"/>
            <a:ext cx="9628632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5F0E6"/>
                </a:solidFill>
                <a:latin typeface="Georgia"/>
                <a:ea typeface="Songti SC"/>
                <a:cs typeface="Songti SC"/>
              </a:rPr>
              <a:t>你为什么要执着于二元价值本身？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543032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79E92"/>
                </a:solidFill>
                <a:latin typeface="Georgia"/>
                <a:ea typeface="Songti SC"/>
                <a:cs typeface="Songti SC"/>
              </a:rPr>
              <a:t>尼采的"碎镜子"向画面左下角缩小淡出。画面中央浮现老子的渐变光谱。两个图像之间一个箭头标注："质问从哪里来"→"质问为什么必须二分"。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10896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8478"/>
                </a:solidFill>
                <a:latin typeface="Georgia"/>
                <a:ea typeface="Songti SC"/>
                <a:cs typeface="Songti SC"/>
              </a:rPr>
              <a:t>第19页 · 金句——老子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417320"/>
            <a:ext cx="9628632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5F0E6"/>
                </a:solidFill>
                <a:latin typeface="Georgia"/>
                <a:ea typeface="Songti SC"/>
                <a:cs typeface="Songti SC"/>
              </a:rPr>
              <a:t>天下皆知美之为美，斯恶已。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880360"/>
            <a:ext cx="944575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B9B1A5"/>
                </a:solidFill>
                <a:latin typeface="Georgia"/>
                <a:ea typeface="Songti SC"/>
                <a:cs typeface="Songti SC"/>
              </a:rPr>
              <a:t>当我们把某个东西定义为"美"的时候，"丑"是不是同时被创造出来了？</a:t>
            </a:r>
          </a:p>
          <a:p>
            <a:pPr algn="ctr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sz="1350" b="0" i="0">
                <a:solidFill>
                  <a:srgbClr val="B9B1A5"/>
                </a:solidFill>
                <a:latin typeface="Georgia"/>
                <a:ea typeface="Songti SC"/>
                <a:cs typeface="Songti SC"/>
              </a:rPr>
              <a:t>当我们说这是成功，同时就创造了失败。当我们说这是优秀，同时就创造了不优秀。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297680"/>
            <a:ext cx="96286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8A7D"/>
                </a:solidFill>
                <a:latin typeface="Georgia"/>
                <a:ea typeface="Songti SC"/>
                <a:cs typeface="Songti SC"/>
              </a:rPr>
              <a:t>价值判断本身，会生产它的反面。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5029200"/>
            <a:ext cx="822960" cy="237744"/>
          </a:xfrm>
          <a:prstGeom prst="rect">
            <a:avLst/>
          </a:prstGeom>
          <a:solidFill>
            <a:srgbClr val="F5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36392" y="5029200"/>
            <a:ext cx="822960" cy="237744"/>
          </a:xfrm>
          <a:prstGeom prst="rect">
            <a:avLst/>
          </a:prstGeom>
          <a:solidFill>
            <a:srgbClr val="DAD5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986784" y="5029200"/>
            <a:ext cx="822960" cy="237744"/>
          </a:xfrm>
          <a:prstGeom prst="rect">
            <a:avLst/>
          </a:prstGeom>
          <a:solidFill>
            <a:srgbClr val="BF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37176" y="5029200"/>
            <a:ext cx="822960" cy="237744"/>
          </a:xfrm>
          <a:prstGeom prst="rect">
            <a:avLst/>
          </a:prstGeom>
          <a:solidFill>
            <a:srgbClr val="A49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87568" y="5029200"/>
            <a:ext cx="822960" cy="237744"/>
          </a:xfrm>
          <a:prstGeom prst="rect">
            <a:avLst/>
          </a:prstGeom>
          <a:solidFill>
            <a:srgbClr val="8A8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37960" y="5029200"/>
            <a:ext cx="822960" cy="237744"/>
          </a:xfrm>
          <a:prstGeom prst="rect">
            <a:avLst/>
          </a:prstGeom>
          <a:solidFill>
            <a:srgbClr val="6F6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88352" y="5029200"/>
            <a:ext cx="822960" cy="237744"/>
          </a:xfrm>
          <a:prstGeom prst="rect">
            <a:avLst/>
          </a:prstGeom>
          <a:solidFill>
            <a:srgbClr val="544F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38744" y="5029200"/>
            <a:ext cx="822960" cy="237744"/>
          </a:xfrm>
          <a:prstGeom prst="rect">
            <a:avLst/>
          </a:prstGeom>
          <a:solidFill>
            <a:srgbClr val="393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89136" y="5029200"/>
            <a:ext cx="822960" cy="237744"/>
          </a:xfrm>
          <a:prstGeom prst="rect">
            <a:avLst/>
          </a:prstGeom>
          <a:solidFill>
            <a:srgbClr val="1F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0" y="532180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8A7D"/>
                </a:solidFill>
                <a:latin typeface="Georgia"/>
                <a:ea typeface="Songti SC"/>
                <a:cs typeface="Songti SC"/>
              </a:rPr>
              <a:t>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532180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8A7D"/>
                </a:solidFill>
                <a:latin typeface="Georgia"/>
                <a:ea typeface="Songti SC"/>
                <a:cs typeface="Songti SC"/>
              </a:rPr>
              <a:t>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943600"/>
            <a:ext cx="10543032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79E92"/>
                </a:solidFill>
                <a:latin typeface="Georgia"/>
                <a:ea typeface="Songti SC"/>
                <a:cs typeface="Songti SC"/>
              </a:rPr>
              <a:t>一条从光到暗的渐变光谱。左端"美"，右端"丑"，中间全是灰度渐变。标注：在美与丑之间，还有无数种可能。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10896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9A"/>
                </a:solidFill>
                <a:latin typeface="Georgia"/>
                <a:ea typeface="Songti SC"/>
                <a:cs typeface="Songti SC"/>
              </a:rPr>
              <a:t>第20页 · 金句——尼采 × 老子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371600"/>
            <a:ext cx="9262872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A8A7D"/>
                </a:solidFill>
                <a:latin typeface="Georgia"/>
                <a:ea typeface="Songti SC"/>
                <a:cs typeface="Songti SC"/>
              </a:rPr>
              <a:t>尼采和《道德经》确实在"价值并非天然存在，而是在对立、命名和比较中被制造出来"这一点上高度相通。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794760"/>
            <a:ext cx="926287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23201B"/>
                </a:solidFill>
                <a:latin typeface="Georgia"/>
                <a:ea typeface="Songti SC"/>
                <a:cs typeface="Songti SC"/>
              </a:rPr>
              <a:t>但两者最后走向的方向恰恰不同。</a:t>
            </a:r>
          </a:p>
          <a:p>
            <a:pPr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450" b="0" i="0">
                <a:solidFill>
                  <a:srgbClr val="23201B"/>
                </a:solidFill>
                <a:latin typeface="Georgia"/>
                <a:ea typeface="Songti SC"/>
                <a:cs typeface="Songti SC"/>
              </a:rPr>
              <a:t>老子倾向于消解价值对立，尼采倾向于穿透旧价值并重新创造价值。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5120640"/>
            <a:ext cx="926287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B8860B"/>
                </a:solidFill>
                <a:latin typeface="Georgia"/>
                <a:ea typeface="Songti SC"/>
                <a:cs typeface="Songti SC"/>
              </a:rPr>
              <a:t>既有价值都值得被重新审视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10543032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C8C8C"/>
                </a:solidFill>
                <a:latin typeface="Georgia"/>
                <a:ea typeface="Songti SC"/>
                <a:cs typeface="Songti SC"/>
              </a:rPr>
              <a:t>两条河流从不同方向汇入同一片湖。左河"老子：消解二元"，右河"尼采：重估价值"。交汇处标签："既有价值都值得被重新审视"。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10896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8478"/>
                </a:solidFill>
                <a:latin typeface="Georgia"/>
                <a:ea typeface="Songti SC"/>
                <a:cs typeface="Songti SC"/>
              </a:rPr>
              <a:t>第21页 · 过渡——哲学内核有了，怎么动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051560"/>
            <a:ext cx="9445752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9B1A5"/>
                </a:solidFill>
                <a:latin typeface="Georgia"/>
                <a:ea typeface="Songti SC"/>
                <a:cs typeface="Songti SC"/>
              </a:rPr>
              <a:t>到这里，我们有了一组哲学张力：康德守边界。亚里士多德给方向。尼采和老子不断反问。</a:t>
            </a:r>
          </a:p>
          <a:p>
            <a:pPr algn="ctr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sz="1350" b="1" i="0">
                <a:solidFill>
                  <a:srgbClr val="F5F0E6"/>
                </a:solidFill>
                <a:latin typeface="Georgia"/>
                <a:ea typeface="Songti SC"/>
                <a:cs typeface="Songti SC"/>
              </a:rPr>
              <a:t>它们互相拉扯。而这才是健康的。</a:t>
            </a:r>
          </a:p>
          <a:p>
            <a:pPr algn="ctr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sz="1350" b="0" i="0">
                <a:solidFill>
                  <a:srgbClr val="B9B1A5"/>
                </a:solidFill>
                <a:latin typeface="Georgia"/>
                <a:ea typeface="Songti SC"/>
                <a:cs typeface="Songti SC"/>
              </a:rPr>
              <a:t>而这一切的根基——是所有判断中不可逾越的底线：</a:t>
            </a:r>
            <a:r>
              <a:rPr sz="1350" b="1" i="0">
                <a:solidFill>
                  <a:srgbClr val="B9B1A5"/>
                </a:solidFill>
                <a:latin typeface="Georgia"/>
                <a:ea typeface="Songti SC"/>
                <a:cs typeface="Songti SC"/>
              </a:rPr>
              <a:t>人的尊严。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457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B9B1A5"/>
                </a:solidFill>
                <a:latin typeface="Georgia"/>
                <a:ea typeface="Songti SC"/>
                <a:cs typeface="Songti SC"/>
              </a:rPr>
              <a:t>但问题是——这些是思想。怎么让它们进入现实？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977639"/>
            <a:ext cx="9628632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5F0E6"/>
                </a:solidFill>
                <a:latin typeface="Georgia"/>
                <a:ea typeface="Songti SC"/>
                <a:cs typeface="Songti SC"/>
              </a:rPr>
              <a:t>既然我们永远无法一次性知道什么是最好的，那怎么办？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10543032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79E92"/>
                </a:solidFill>
                <a:latin typeface="Georgia"/>
                <a:ea typeface="Songti SC"/>
                <a:cs typeface="Songti SC"/>
              </a:rPr>
              <a:t>一个发光结构——中心"人的尊严"（人形图标），外围五个节点环绕（康德/亚里士多德/尼采/老子/功利主义），节点之间灰色虚线双向箭头连接。整体构成"价值张力内核"。但整个结构是静止的。问号浮现在上方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10896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8478"/>
                </a:solidFill>
                <a:latin typeface="Georgia"/>
                <a:ea typeface="Songti SC"/>
                <a:cs typeface="Songti SC"/>
              </a:rPr>
              <a:t>第22页 · 问题——为什么需要杜威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417320"/>
            <a:ext cx="9262872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5F0E6"/>
                </a:solidFill>
                <a:latin typeface="Georgia"/>
                <a:ea typeface="Songti SC"/>
                <a:cs typeface="Songti SC"/>
              </a:rPr>
              <a:t>亚里士多德的美德论本身就包括了"创造什么样的生活"、"消费者需要什么"以及"什么是好"。但这跟尼采和杜威的部分其实是有一定冲突的。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291840"/>
            <a:ext cx="9262872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5F0E6"/>
                </a:solidFill>
                <a:latin typeface="Georgia"/>
                <a:ea typeface="Songti SC"/>
                <a:cs typeface="Songti SC"/>
              </a:rPr>
              <a:t>我们是为了增加"创造论"这个理论而增加了相应的哲学体系，还是说亚里士多德的理论体系本身就可以包括这件事情？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892040"/>
            <a:ext cx="92628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9B1A5"/>
                </a:solidFill>
                <a:latin typeface="Georgia"/>
                <a:ea typeface="Songti SC"/>
                <a:cs typeface="Songti SC"/>
              </a:rPr>
              <a:t>亚里士多德的 flourishing = 创造？不完全是。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10543032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79E92"/>
                </a:solidFill>
                <a:latin typeface="Georgia"/>
                <a:ea typeface="Songti SC"/>
                <a:cs typeface="Songti SC"/>
              </a:rPr>
              <a:t>画面文字居中大字。下方一个等号+问号：亚里士多德的 flourishing = 创造？不完全是。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10896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9A"/>
                </a:solidFill>
                <a:latin typeface="Georgia"/>
                <a:ea typeface="Songti SC"/>
                <a:cs typeface="Songti SC"/>
              </a:rPr>
              <a:t>第23页 · 金句——为什么杜威不能省略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371600"/>
            <a:ext cx="9262872" cy="228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2C5F8A"/>
                </a:solidFill>
                <a:latin typeface="Georgia"/>
                <a:ea typeface="Songti SC"/>
                <a:cs typeface="Songti SC"/>
              </a:rPr>
              <a:t>亚里士多德确实已经包含了我们所谓的创造什么样的生活，但没有完全包含尼采意义上的价值创造，也没有完全包含杜威意义上的通过行动生成新价值。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977639"/>
            <a:ext cx="926287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23201B"/>
                </a:solidFill>
                <a:latin typeface="Georgia"/>
                <a:ea typeface="Songti SC"/>
                <a:cs typeface="Songti SC"/>
              </a:rPr>
              <a:t>所以，不是为了凑出第四层而硬加尼采和杜威。</a:t>
            </a:r>
          </a:p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</a:pPr>
            <a:r>
              <a:rPr sz="1450" b="0" i="0">
                <a:solidFill>
                  <a:srgbClr val="23201B"/>
                </a:solidFill>
                <a:latin typeface="Georgia"/>
                <a:ea typeface="Songti SC"/>
                <a:cs typeface="Songti SC"/>
              </a:rPr>
              <a:t>而是因为我们把营销问题继续往深处追问以后，发现亚里士多德的框架之外，确实存在两个他无法充分回答的问题。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543032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C8C8C"/>
                </a:solidFill>
                <a:latin typeface="Georgia"/>
                <a:ea typeface="Songti SC"/>
                <a:cs typeface="Songti SC"/>
              </a:rPr>
              <a:t>三个层叠的圆逐一亮起。最内"亚里士多德：好的生活"，中间"尼采：为什么这是好的？"，外层"杜威：怎么做才知道？"。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10896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9A"/>
                </a:solidFill>
                <a:latin typeface="Georgia"/>
                <a:ea typeface="Songti SC"/>
                <a:cs typeface="Songti SC"/>
              </a:rPr>
              <a:t>第24页 · 金句——杜威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417320"/>
            <a:ext cx="9628632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C5F8A"/>
                </a:solidFill>
                <a:latin typeface="Georgia"/>
                <a:ea typeface="Songti SC"/>
                <a:cs typeface="Songti SC"/>
              </a:rPr>
              <a:t>不是在思想中检验思想，而是在行动中检验思想。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200400"/>
            <a:ext cx="926287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23201B"/>
                </a:solidFill>
                <a:latin typeface="Georgia"/>
                <a:ea typeface="Songti SC"/>
                <a:cs typeface="Songti SC"/>
              </a:rPr>
              <a:t>思想不是为了描述世界，而是为了帮助我们在真实世界中解决问题。</a:t>
            </a:r>
          </a:p>
          <a:p>
            <a:pPr algn="ctr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</a:pPr>
            <a:r>
              <a:rPr sz="1450" b="0" i="0">
                <a:solidFill>
                  <a:srgbClr val="23201B"/>
                </a:solidFill>
                <a:latin typeface="Georgia"/>
                <a:ea typeface="Songti SC"/>
                <a:cs typeface="Songti SC"/>
              </a:rPr>
              <a:t>价值不是完全预先存在的。你只有真正做了一个东西，让人使用，观察他们怎么生活，重新调整，价值才逐渐显现。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892040"/>
            <a:ext cx="92628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C5F8A"/>
                </a:solidFill>
                <a:latin typeface="Georgia"/>
                <a:ea typeface="Songti SC"/>
                <a:cs typeface="Songti SC"/>
              </a:rPr>
              <a:t>探索与假设 → 行动与实验 → 经验与学习 → 反思与修正 → 升级与再创造 → 回到探索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10543032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C8C8C"/>
                </a:solidFill>
                <a:latin typeface="Georgia"/>
                <a:ea typeface="Songti SC"/>
                <a:cs typeface="Songti SC"/>
              </a:rPr>
              <a:t>一个五阶段环形箭头，循环标注：探索与假设 → 行动与实验 → 经验与学习 → 反思与修正 → 升级与再创造 → 回到探索。箭头持续旋转。传达：杜威不是一次性行动，是永不停止的迭代。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10896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8478"/>
                </a:solidFill>
                <a:latin typeface="Georgia"/>
                <a:ea typeface="Songti SC"/>
                <a:cs typeface="Songti SC"/>
              </a:rPr>
              <a:t>第25页 · 问题——杜威不在内部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737360"/>
            <a:ext cx="926287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5F0E6"/>
                </a:solidFill>
                <a:latin typeface="Georgia"/>
                <a:ea typeface="Songti SC"/>
                <a:cs typeface="Songti SC"/>
              </a:rPr>
              <a:t>杜威应该是在外围的整个优化的状态，而不是在内部的用结果论的结论来开始优化。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017520"/>
            <a:ext cx="926287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5F0E6"/>
                </a:solidFill>
                <a:latin typeface="Georgia"/>
                <a:ea typeface="Songti SC"/>
                <a:cs typeface="Songti SC"/>
              </a:rPr>
              <a:t>杜威是一个动作，然后来去转动这个飞轮。</a:t>
            </a:r>
          </a:p>
        </p:txBody>
      </p:sp>
      <p:sp>
        <p:nvSpPr>
          <p:cNvPr id="6" name="Oval 5"/>
          <p:cNvSpPr/>
          <p:nvPr/>
        </p:nvSpPr>
        <p:spPr>
          <a:xfrm>
            <a:off x="5486400" y="4206240"/>
            <a:ext cx="1280160" cy="1280160"/>
          </a:xfrm>
          <a:prstGeom prst="ellipse">
            <a:avLst/>
          </a:prstGeom>
          <a:noFill/>
          <a:ln w="15875">
            <a:solidFill>
              <a:srgbClr val="6E6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>
            <a:off x="5733288" y="4462272"/>
            <a:ext cx="786384" cy="731520"/>
          </a:xfrm>
          <a:prstGeom prst="triangle">
            <a:avLst/>
          </a:prstGeom>
          <a:noFill/>
          <a:ln w="15875">
            <a:solidFill>
              <a:srgbClr val="2C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92040" y="5532120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8478"/>
                </a:solidFill>
                <a:latin typeface="Georgia"/>
                <a:ea typeface="Songti SC"/>
                <a:cs typeface="Songti SC"/>
              </a:rPr>
              <a:t>哲学内核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452628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8478"/>
                </a:solidFill>
                <a:latin typeface="Georgia"/>
                <a:ea typeface="Songti SC"/>
                <a:cs typeface="Songti SC"/>
              </a:rPr>
              <a:t>杜威：让价值系统转动起来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43600"/>
            <a:ext cx="10543032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79E92"/>
                </a:solidFill>
                <a:latin typeface="Georgia"/>
                <a:ea typeface="Songti SC"/>
                <a:cs typeface="Songti SC"/>
              </a:rPr>
              <a:t>画面居中大字。下方简笔示意图：三角在中间（哲学内核），外围大圆环包裹三角，标注"杜威：让价值系统转动起来"。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10896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8478"/>
                </a:solidFill>
                <a:latin typeface="Georgia"/>
                <a:ea typeface="Songti SC"/>
                <a:cs typeface="Songti SC"/>
              </a:rPr>
              <a:t>第26页 · 过渡——动了，怎么检验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94457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9B1A5"/>
                </a:solidFill>
                <a:latin typeface="Georgia"/>
                <a:ea typeface="Songti SC"/>
                <a:cs typeface="Songti SC"/>
              </a:rPr>
              <a:t>杜威说：去行动。去实验。去学习。去修正。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011680"/>
            <a:ext cx="9628632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5F0E6"/>
                </a:solidFill>
                <a:latin typeface="Georgia"/>
                <a:ea typeface="Songti SC"/>
                <a:cs typeface="Songti SC"/>
              </a:rPr>
              <a:t>但行动之后呢？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29000"/>
            <a:ext cx="94457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B9B1A5"/>
                </a:solidFill>
                <a:latin typeface="Georgia"/>
                <a:ea typeface="Songti SC"/>
                <a:cs typeface="Songti SC"/>
              </a:rPr>
              <a:t>你怎么知道这个行动真的让事情变好了？</a:t>
            </a:r>
          </a:p>
          <a:p>
            <a:pPr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350" b="0" i="0">
                <a:solidFill>
                  <a:srgbClr val="B9B1A5"/>
                </a:solidFill>
                <a:latin typeface="Georgia"/>
                <a:ea typeface="Songti SC"/>
                <a:cs typeface="Songti SC"/>
              </a:rPr>
              <a:t>还是只是你自己觉得它变好了？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526280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5F0E6"/>
                </a:solidFill>
                <a:latin typeface="Georgia"/>
                <a:ea typeface="Songti SC"/>
                <a:cs typeface="Songti SC"/>
              </a:rPr>
              <a:t>这时候需要最后一种力量——</a:t>
            </a:r>
          </a:p>
        </p:txBody>
      </p:sp>
      <p:sp>
        <p:nvSpPr>
          <p:cNvPr id="8" name="Oval 7"/>
          <p:cNvSpPr/>
          <p:nvPr/>
        </p:nvSpPr>
        <p:spPr>
          <a:xfrm>
            <a:off x="7955279" y="4160520"/>
            <a:ext cx="2926080" cy="1737360"/>
          </a:xfrm>
          <a:prstGeom prst="ellipse">
            <a:avLst/>
          </a:prstGeom>
          <a:noFill/>
          <a:ln w="15875">
            <a:solidFill>
              <a:srgbClr val="6E6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484632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9B1A5"/>
                </a:solidFill>
                <a:latin typeface="Georgia"/>
                <a:ea typeface="Songti SC"/>
                <a:cs typeface="Songti SC"/>
              </a:rPr>
              <a:t>REALITY CHECK：真实结果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43600"/>
            <a:ext cx="10543032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79E92"/>
                </a:solidFill>
                <a:latin typeface="Georgia"/>
                <a:ea typeface="Songti SC"/>
                <a:cs typeface="Songti SC"/>
              </a:rPr>
              <a:t>杜威的旋转飞轮旁边，一层半透明外壳正在形成。外壳标注"REALITY CHECK：真实结果"。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10896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9A"/>
                </a:solidFill>
                <a:latin typeface="Georgia"/>
                <a:ea typeface="Songti SC"/>
                <a:cs typeface="Songti SC"/>
              </a:rPr>
              <a:t>第27页 · 金句——五者的角色定位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097280"/>
            <a:ext cx="9262872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3201B"/>
                </a:solidFill>
                <a:latin typeface="Georgia"/>
                <a:ea typeface="Songti SC"/>
                <a:cs typeface="Songti SC"/>
              </a:rPr>
              <a:t>杜威不应该和康德、亚里士多德、尼采、功利主义处在同一个平面上。因为他们其实不是同一种东西。</a:t>
            </a:r>
          </a:p>
          <a:p>
            <a:pPr algn="ctr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</a:pPr>
            <a:r>
              <a:rPr sz="1400" b="0" i="0">
                <a:solidFill>
                  <a:srgbClr val="23201B"/>
                </a:solidFill>
                <a:latin typeface="Georgia"/>
                <a:ea typeface="Songti SC"/>
                <a:cs typeface="Songti SC"/>
              </a:rPr>
              <a:t>康德、亚里士多德、尼采（含老子）、功利主义，是价值判断的哲学张力。杜威，是让这套价值系统不断运动起来的方法。</a:t>
            </a:r>
          </a:p>
          <a:p>
            <a:pPr algn="ctr">
              <a:lnSpc>
                <a:spcPct val="130000"/>
              </a:lnSpc>
              <a:spcBef>
                <a:spcPts val="1200"/>
              </a:spcBef>
            </a:pPr>
            <a:r>
              <a:rPr sz="1600" b="1" i="0">
                <a:solidFill>
                  <a:srgbClr val="C0392B"/>
                </a:solidFill>
                <a:latin typeface="Georgia"/>
                <a:ea typeface="Songti SC"/>
                <a:cs typeface="Songti SC"/>
              </a:rPr>
              <a:t>康德</a:t>
            </a:r>
            <a:r>
              <a:rPr sz="1600" b="0" i="0">
                <a:solidFill>
                  <a:srgbClr val="23201B"/>
                </a:solidFill>
                <a:latin typeface="Georgia"/>
                <a:ea typeface="Songti SC"/>
                <a:cs typeface="Songti SC"/>
              </a:rPr>
              <a:t>守边界。</a:t>
            </a:r>
            <a:r>
              <a:rPr sz="1600" b="1" i="0">
                <a:solidFill>
                  <a:srgbClr val="B8860B"/>
                </a:solidFill>
                <a:latin typeface="Georgia"/>
                <a:ea typeface="Songti SC"/>
                <a:cs typeface="Songti SC"/>
              </a:rPr>
              <a:t>亚里士多德</a:t>
            </a:r>
            <a:r>
              <a:rPr sz="1600" b="0" i="0">
                <a:solidFill>
                  <a:srgbClr val="23201B"/>
                </a:solidFill>
                <a:latin typeface="Georgia"/>
                <a:ea typeface="Songti SC"/>
                <a:cs typeface="Songti SC"/>
              </a:rPr>
              <a:t>给方向。</a:t>
            </a:r>
            <a:r>
              <a:rPr sz="1600" b="1" i="0">
                <a:solidFill>
                  <a:srgbClr val="1A8A7D"/>
                </a:solidFill>
                <a:latin typeface="Georgia"/>
                <a:ea typeface="Songti SC"/>
                <a:cs typeface="Songti SC"/>
              </a:rPr>
              <a:t>尼采</a:t>
            </a:r>
            <a:r>
              <a:rPr sz="1600" b="0" i="0">
                <a:solidFill>
                  <a:srgbClr val="23201B"/>
                </a:solidFill>
                <a:latin typeface="Georgia"/>
                <a:ea typeface="Songti SC"/>
                <a:cs typeface="Songti SC"/>
              </a:rPr>
              <a:t>重估价值。</a:t>
            </a:r>
            <a:r>
              <a:rPr sz="1600" b="1" i="0">
                <a:solidFill>
                  <a:srgbClr val="1A8A7D"/>
                </a:solidFill>
                <a:latin typeface="Georgia"/>
                <a:ea typeface="Songti SC"/>
                <a:cs typeface="Songti SC"/>
              </a:rPr>
              <a:t>老子</a:t>
            </a:r>
            <a:r>
              <a:rPr sz="1600" b="0" i="0">
                <a:solidFill>
                  <a:srgbClr val="23201B"/>
                </a:solidFill>
                <a:latin typeface="Georgia"/>
                <a:ea typeface="Songti SC"/>
                <a:cs typeface="Songti SC"/>
              </a:rPr>
              <a:t>消解二元。</a:t>
            </a:r>
            <a:r>
              <a:rPr sz="1600" b="1" i="0">
                <a:solidFill>
                  <a:srgbClr val="555555"/>
                </a:solidFill>
                <a:latin typeface="Georgia"/>
                <a:ea typeface="Songti SC"/>
                <a:cs typeface="Songti SC"/>
              </a:rPr>
              <a:t>功利主义</a:t>
            </a:r>
            <a:r>
              <a:rPr sz="1600" b="0" i="0">
                <a:solidFill>
                  <a:srgbClr val="23201B"/>
                </a:solidFill>
                <a:latin typeface="Georgia"/>
                <a:ea typeface="Songti SC"/>
                <a:cs typeface="Songti SC"/>
              </a:rPr>
              <a:t>检验结果。</a:t>
            </a:r>
            <a:r>
              <a:rPr sz="1600" b="1" i="0">
                <a:solidFill>
                  <a:srgbClr val="2C5F8A"/>
                </a:solidFill>
                <a:latin typeface="Georgia"/>
                <a:ea typeface="Songti SC"/>
                <a:cs typeface="Songti SC"/>
              </a:rPr>
              <a:t>杜威</a:t>
            </a:r>
            <a:r>
              <a:rPr sz="1600" b="0" i="0">
                <a:solidFill>
                  <a:srgbClr val="23201B"/>
                </a:solidFill>
                <a:latin typeface="Georgia"/>
                <a:ea typeface="Songti SC"/>
                <a:cs typeface="Songti SC"/>
              </a:rPr>
              <a:t>让系统转动。</a:t>
            </a:r>
          </a:p>
          <a:p>
            <a:pPr algn="ctr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sz="1450" b="0" i="0">
                <a:solidFill>
                  <a:srgbClr val="23201B"/>
                </a:solidFill>
                <a:latin typeface="Georgia"/>
                <a:ea typeface="Songti SC"/>
                <a:cs typeface="Songti SC"/>
              </a:rPr>
              <a:t>六者共同构成一个持续自我修正与创造的哲学飞轮。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43032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C8C8C"/>
                </a:solidFill>
                <a:latin typeface="Georgia"/>
                <a:ea typeface="Songti SC"/>
                <a:cs typeface="Songti SC"/>
              </a:rPr>
              <a:t>完整的飞轮结构图：最内核：人的尊严（人形图标，标注"一切判断的基石，不可逾越的伦理底线"）。内核周围：五个节点环绕——康德（能不能做）/ 亚里士多德（什么值得追求）/ 尼采（为什么它值得）/ 老子（真的需要如此二分吗）/ 功利主义（结果如何）——节点之间灰色虚线双向箭头连接。中间层：杜威行动循环包裹内核——五阶段环形箭头。最外层：现实世界六个维度（消费者与人的真实生活 / 市场与商业环境 / 社会与文化环境 / 技术与媒介环境 / 自然与资源环境 / 长期与系统影响）。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10896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9A"/>
                </a:solidFill>
                <a:latin typeface="Georgia"/>
                <a:ea typeface="Songti SC"/>
                <a:cs typeface="Songti SC"/>
              </a:rPr>
              <a:t>第28页 · 全貌——营销哲学飞轮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512064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3201B"/>
                </a:solidFill>
                <a:latin typeface="Georgia"/>
                <a:ea typeface="Songti SC"/>
                <a:cs typeface="Songti SC"/>
              </a:rPr>
              <a:t>人的尊严，是一切判断的基石。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</a:pPr>
            <a:r>
              <a:rPr sz="1450" b="1" i="0">
                <a:solidFill>
                  <a:srgbClr val="C0392B"/>
                </a:solidFill>
                <a:latin typeface="Georgia"/>
                <a:ea typeface="Songti SC"/>
                <a:cs typeface="Songti SC"/>
              </a:rPr>
              <a:t>康德</a:t>
            </a:r>
            <a:r>
              <a:rPr sz="1450" b="1" i="0">
                <a:solidFill>
                  <a:srgbClr val="23201B"/>
                </a:solidFill>
                <a:latin typeface="Georgia"/>
                <a:ea typeface="Songti SC"/>
                <a:cs typeface="Songti SC"/>
              </a:rPr>
              <a:t>防止我们为了创造价值而伤害人。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</a:pPr>
            <a:r>
              <a:rPr sz="1450" b="1" i="0">
                <a:solidFill>
                  <a:srgbClr val="B8860B"/>
                </a:solidFill>
                <a:latin typeface="Georgia"/>
                <a:ea typeface="Songti SC"/>
                <a:cs typeface="Songti SC"/>
              </a:rPr>
              <a:t>亚里士多德</a:t>
            </a:r>
            <a:r>
              <a:rPr sz="1450" b="1" i="0">
                <a:solidFill>
                  <a:srgbClr val="23201B"/>
                </a:solidFill>
                <a:latin typeface="Georgia"/>
                <a:ea typeface="Songti SC"/>
                <a:cs typeface="Songti SC"/>
              </a:rPr>
              <a:t>防止我们只会否定，而不知道什么值得追求。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45352" y="1143000"/>
            <a:ext cx="512064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450" b="1" i="0">
                <a:solidFill>
                  <a:srgbClr val="1A8A7D"/>
                </a:solidFill>
                <a:latin typeface="Georgia"/>
                <a:ea typeface="Songti SC"/>
                <a:cs typeface="Songti SC"/>
              </a:rPr>
              <a:t>尼采</a:t>
            </a:r>
            <a:r>
              <a:rPr sz="1450" b="1" i="0">
                <a:solidFill>
                  <a:srgbClr val="23201B"/>
                </a:solidFill>
                <a:latin typeface="Georgia"/>
                <a:ea typeface="Songti SC"/>
                <a:cs typeface="Songti SC"/>
              </a:rPr>
              <a:t>防止我们把既有价值误认为天然正确。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</a:pPr>
            <a:r>
              <a:rPr sz="1450" b="1" i="0">
                <a:solidFill>
                  <a:srgbClr val="1A8A7D"/>
                </a:solidFill>
                <a:latin typeface="Georgia"/>
                <a:ea typeface="Songti SC"/>
                <a:cs typeface="Songti SC"/>
              </a:rPr>
              <a:t>老子</a:t>
            </a:r>
            <a:r>
              <a:rPr sz="1450" b="1" i="0">
                <a:solidFill>
                  <a:srgbClr val="23201B"/>
                </a:solidFill>
                <a:latin typeface="Georgia"/>
                <a:ea typeface="Songti SC"/>
                <a:cs typeface="Songti SC"/>
              </a:rPr>
              <a:t>防止我们把二元价值绝对化。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</a:pPr>
            <a:r>
              <a:rPr sz="1450" b="1" i="0">
                <a:solidFill>
                  <a:srgbClr val="555555"/>
                </a:solidFill>
                <a:latin typeface="Georgia"/>
                <a:ea typeface="Songti SC"/>
                <a:cs typeface="Songti SC"/>
              </a:rPr>
              <a:t>功利主义</a:t>
            </a:r>
            <a:r>
              <a:rPr sz="1450" b="1" i="0">
                <a:solidFill>
                  <a:srgbClr val="23201B"/>
                </a:solidFill>
                <a:latin typeface="Georgia"/>
                <a:ea typeface="Songti SC"/>
                <a:cs typeface="Songti SC"/>
              </a:rPr>
              <a:t>防止我们沉醉于理念而忘记看结果。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526280"/>
            <a:ext cx="926287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23201B"/>
                </a:solidFill>
                <a:latin typeface="Georgia"/>
                <a:ea typeface="Songti SC"/>
                <a:cs typeface="Songti SC"/>
              </a:rPr>
              <a:t>它们互相拉扯。而这才是健康的。</a:t>
            </a:r>
          </a:p>
          <a:p>
            <a:pPr algn="ctr">
              <a:lnSpc>
                <a:spcPct val="130000"/>
              </a:lnSpc>
              <a:spcBef>
                <a:spcPts val="800"/>
              </a:spcBef>
            </a:pPr>
            <a:r>
              <a:rPr sz="1450" b="1" i="0">
                <a:solidFill>
                  <a:srgbClr val="2C5F8A"/>
                </a:solidFill>
                <a:latin typeface="Georgia"/>
                <a:ea typeface="Songti SC"/>
                <a:cs typeface="Songti SC"/>
              </a:rPr>
              <a:t>杜威</a:t>
            </a:r>
            <a:r>
              <a:rPr sz="1450" b="0" i="0">
                <a:solidFill>
                  <a:srgbClr val="23201B"/>
                </a:solidFill>
                <a:latin typeface="Georgia"/>
                <a:ea typeface="Songti SC"/>
                <a:cs typeface="Songti SC"/>
              </a:rPr>
              <a:t>让系统转动。现实让一切接受检验。这不是五个人排队，是一个不断自我修正的实践哲学系统。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10543032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C8C8C"/>
                </a:solidFill>
                <a:latin typeface="Georgia"/>
                <a:ea typeface="Songti SC"/>
                <a:cs typeface="Songti SC"/>
              </a:rPr>
              <a:t>完整飞轮全景（与逸凡的最终图结构对齐）：内核中心"人的尊严"发光。五个哲学节点环绕，灰色虚线双向箭头连接。中间层杜威五阶段蓝色箭头循环。最外层六个现实维度黄色虚线连接环抱。底部说明：飞轮运转路径——价值张力内核 → 形成判断 → 杜威行动循环 → 进入实践 → 功利主义检验 → 观察真实结果 → 反馈回内核修正认知 → 升级再创造 → 产生新的判断行动。底部使命宣言：用商业的力量，创造更多人愿意选择并因此过上更好生活的现实可能性。不是影响选择，而是创造选择。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10896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9A"/>
                </a:solidFill>
                <a:latin typeface="Georgia"/>
                <a:ea typeface="Songti SC"/>
                <a:cs typeface="Songti SC"/>
              </a:rPr>
              <a:t>第29页 · 金句——核心宣言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999439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3201B"/>
                </a:solidFill>
                <a:latin typeface="Georgia"/>
                <a:ea typeface="Songti SC"/>
                <a:cs typeface="Songti SC"/>
              </a:rPr>
              <a:t>Marketing is not only about influencing what people choose.</a:t>
            </a:r>
          </a:p>
          <a:p>
            <a:pPr algn="ctr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</a:pPr>
            <a:r>
              <a:rPr sz="2600" b="1" i="0">
                <a:solidFill>
                  <a:srgbClr val="23201B"/>
                </a:solidFill>
                <a:latin typeface="Georgia"/>
                <a:ea typeface="Songti SC"/>
                <a:cs typeface="Songti SC"/>
              </a:rPr>
              <a:t>It is about shaping what people can choose.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788920"/>
            <a:ext cx="926287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8860B"/>
                </a:solidFill>
                <a:latin typeface="Georgia"/>
                <a:ea typeface="Songti SC"/>
                <a:cs typeface="Songti SC"/>
              </a:rPr>
              <a:t>传统营销研究已有的需求。</a:t>
            </a:r>
          </a:p>
          <a:p>
            <a:pPr algn="ctr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</a:pPr>
            <a:r>
              <a:rPr sz="1400" b="0" i="0">
                <a:solidFill>
                  <a:srgbClr val="B8860B"/>
                </a:solidFill>
                <a:latin typeface="Georgia"/>
                <a:ea typeface="Songti SC"/>
                <a:cs typeface="Songti SC"/>
              </a:rPr>
              <a:t>创新创造新的产品。</a:t>
            </a:r>
          </a:p>
          <a:p>
            <a:pPr algn="ctr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</a:pPr>
            <a:r>
              <a:rPr sz="1400" b="0" i="0">
                <a:solidFill>
                  <a:srgbClr val="B8860B"/>
                </a:solidFill>
                <a:latin typeface="Georgia"/>
                <a:ea typeface="Songti SC"/>
                <a:cs typeface="Songti SC"/>
              </a:rPr>
              <a:t>品牌创造新的意义。</a:t>
            </a:r>
          </a:p>
          <a:p>
            <a:pPr algn="ctr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</a:pPr>
            <a:r>
              <a:rPr sz="1400" b="0" i="0">
                <a:solidFill>
                  <a:srgbClr val="B8860B"/>
                </a:solidFill>
                <a:latin typeface="Georgia"/>
                <a:ea typeface="Songti SC"/>
                <a:cs typeface="Songti SC"/>
              </a:rPr>
              <a:t>服务设计创造新的体验。</a:t>
            </a:r>
          </a:p>
          <a:p>
            <a:pPr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400" b="0" i="0">
                <a:solidFill>
                  <a:srgbClr val="B8860B"/>
                </a:solidFill>
                <a:latin typeface="Georgia"/>
                <a:ea typeface="Songti SC"/>
                <a:cs typeface="Songti SC"/>
              </a:rPr>
              <a:t>而真正伟大的营销，是把这些东西最终变成：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480560"/>
            <a:ext cx="99943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B8860B"/>
                </a:solidFill>
                <a:latin typeface="Georgia"/>
                <a:ea typeface="Songti SC"/>
                <a:cs typeface="Songti SC"/>
              </a:rPr>
              <a:t>一种人们愿意选择的新生活。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5257800"/>
            <a:ext cx="92628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C8C8C"/>
                </a:solidFill>
                <a:latin typeface="Georgia"/>
                <a:ea typeface="Songti SC"/>
                <a:cs typeface="Songti SC"/>
              </a:rPr>
              <a:t>这时候，营销就从传播学真正走到了哲学和创造学的边界上。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43600"/>
            <a:ext cx="10543032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C8C8C"/>
                </a:solidFill>
                <a:latin typeface="Georgia"/>
                <a:ea typeface="Songti SC"/>
                <a:cs typeface="Songti SC"/>
              </a:rPr>
              <a:t>白色背景，黑色英文大字居中。中文金色小字逐行浮现。最后一行加粗放大。极简。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10896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8478"/>
                </a:solidFill>
                <a:latin typeface="Georgia"/>
                <a:ea typeface="Songti SC"/>
                <a:cs typeface="Songti SC"/>
              </a:rPr>
              <a:t>第30页 · 过渡——从理念到行动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143000"/>
            <a:ext cx="94457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9B1A5"/>
                </a:solidFill>
                <a:latin typeface="Georgia"/>
                <a:ea typeface="Songti SC"/>
                <a:cs typeface="Songti SC"/>
              </a:rPr>
              <a:t>Marketing is not only about influencing what people choose.</a:t>
            </a:r>
          </a:p>
          <a:p>
            <a:pPr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250" b="0" i="0">
                <a:solidFill>
                  <a:srgbClr val="B9B1A5"/>
                </a:solidFill>
                <a:latin typeface="Georgia"/>
                <a:ea typeface="Songti SC"/>
                <a:cs typeface="Songti SC"/>
              </a:rPr>
              <a:t>It is about shaping what people can choose.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286000"/>
            <a:ext cx="9628632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0E6"/>
                </a:solidFill>
                <a:latin typeface="Georgia"/>
                <a:ea typeface="Songti SC"/>
                <a:cs typeface="Songti SC"/>
              </a:rPr>
              <a:t>但这不仅仅是理念。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703320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9B1A5"/>
                </a:solidFill>
                <a:latin typeface="Georgia"/>
                <a:ea typeface="Songti SC"/>
                <a:cs typeface="Songti SC"/>
              </a:rPr>
              <a:t>它可以变成每一次决策时的追问。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4526280"/>
            <a:ext cx="1481328" cy="777240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6E6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01568" y="4526280"/>
            <a:ext cx="1481328" cy="777240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6E6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40096" y="4526280"/>
            <a:ext cx="1481328" cy="777240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6E6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278624" y="4526280"/>
            <a:ext cx="1481328" cy="777240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6E6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217152" y="4526280"/>
            <a:ext cx="1481328" cy="777240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6E6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943600"/>
            <a:ext cx="10543032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79E92"/>
                </a:solidFill>
                <a:latin typeface="Georgia"/>
                <a:ea typeface="Songti SC"/>
                <a:cs typeface="Songti SC"/>
              </a:rPr>
              <a:t>第25页核心金句缩小至画面上方。下方五个空方框逐一亮起。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10896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9A"/>
                </a:solidFill>
                <a:latin typeface="Georgia"/>
                <a:ea typeface="Songti SC"/>
                <a:cs typeface="Songti SC"/>
              </a:rPr>
              <a:t>第31页 · 五问决策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49527" y="1371600"/>
            <a:ext cx="9692640" cy="786384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Georgia"/>
                <a:ea typeface="Songti SC"/>
                <a:cs typeface="Songti SC"/>
              </a:rPr>
              <a:t>康德 | 能不能做？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Georgia"/>
                <a:ea typeface="Songti SC"/>
                <a:cs typeface="Songti SC"/>
              </a:rPr>
              <a:t>这件事即使有效，我仍然认为它是对的吗？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52447" y="2249424"/>
            <a:ext cx="8686800" cy="786384"/>
          </a:xfrm>
          <a:prstGeom prst="roundRect">
            <a:avLst>
              <a:gd name="adj" fmla="val 8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Georgia"/>
                <a:ea typeface="Songti SC"/>
                <a:cs typeface="Songti SC"/>
              </a:rPr>
              <a:t>亚里士多德 | 什么值得成为？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Georgia"/>
                <a:ea typeface="Songti SC"/>
                <a:cs typeface="Songti SC"/>
              </a:rPr>
              <a:t>这件事会把品牌和消费者塑造成什么样的人？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55367" y="3127248"/>
            <a:ext cx="7680960" cy="786384"/>
          </a:xfrm>
          <a:prstGeom prst="roundRect">
            <a:avLst>
              <a:gd name="adj" fmla="val 8000"/>
            </a:avLst>
          </a:prstGeom>
          <a:solidFill>
            <a:srgbClr val="1A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Georgia"/>
                <a:ea typeface="Songti SC"/>
                <a:cs typeface="Songti SC"/>
              </a:rPr>
              <a:t>尼采 × 老子 | 凭什么这就是好的？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Georgia"/>
                <a:ea typeface="Songti SC"/>
                <a:cs typeface="Songti SC"/>
              </a:rPr>
              <a:t>我们有没有被行业惯性和既有价值骗了？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58287" y="4005072"/>
            <a:ext cx="6675120" cy="786384"/>
          </a:xfrm>
          <a:prstGeom prst="roundRect">
            <a:avLst>
              <a:gd name="adj" fmla="val 8000"/>
            </a:avLst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Georgia"/>
                <a:ea typeface="Songti SC"/>
                <a:cs typeface="Songti SC"/>
              </a:rPr>
              <a:t>杜威 | 去做。让真实世界回答。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Georgia"/>
                <a:ea typeface="Songti SC"/>
                <a:cs typeface="Songti SC"/>
              </a:rPr>
              <a:t>我们怎么知道这个生活真的对他们有帮助？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61207" y="4882896"/>
            <a:ext cx="5669280" cy="786384"/>
          </a:xfrm>
          <a:prstGeom prst="roundRect">
            <a:avLst>
              <a:gd name="adj" fmla="val 8000"/>
            </a:avLst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Georgia"/>
                <a:ea typeface="Songti SC"/>
                <a:cs typeface="Songti SC"/>
              </a:rPr>
              <a:t>功利主义 | 现实究竟产生了什么？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Georgia"/>
                <a:ea typeface="Songti SC"/>
                <a:cs typeface="Songti SC"/>
              </a:rPr>
              <a:t>真实的人发生了什么变化？是边沁说的更多幸福？还是密尔说的更高品质的幸福？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43600"/>
            <a:ext cx="10543032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C8C8C"/>
                </a:solidFill>
                <a:latin typeface="Georgia"/>
                <a:ea typeface="Songti SC"/>
                <a:cs typeface="Songti SC"/>
              </a:rPr>
              <a:t>五个色块纵向排列，红（康德）→金（亚里士多德）→青（尼采老子）→蓝（杜威）→灰（功利主义）。上大下小形成漏斗透视感。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10896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9A"/>
                </a:solidFill>
                <a:latin typeface="Georgia"/>
                <a:ea typeface="Songti SC"/>
                <a:cs typeface="Songti SC"/>
              </a:rPr>
              <a:t>第32页 · 最后一页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783080"/>
            <a:ext cx="999439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3201B"/>
                </a:solidFill>
                <a:latin typeface="Georgia"/>
                <a:ea typeface="Songti SC"/>
                <a:cs typeface="Songti SC"/>
              </a:rPr>
              <a:t>当我们拥有改变人的认知、行为和生活的能力时，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606040"/>
            <a:ext cx="999439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B8860B"/>
                </a:solidFill>
                <a:latin typeface="Georgia"/>
                <a:ea typeface="Songti SC"/>
                <a:cs typeface="Songti SC"/>
              </a:rPr>
              <a:t>我们究竟应该怎样使用这种能力？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3840480"/>
            <a:ext cx="92628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8C8C8C"/>
                </a:solidFill>
                <a:latin typeface="Georgia"/>
                <a:ea typeface="Songti SC"/>
                <a:cs typeface="Songti SC"/>
              </a:rPr>
              <a:t>这是一个真正想改变营销行业的人，迟早必须回答的问题。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5486400"/>
            <a:ext cx="926287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8860B"/>
                </a:solidFill>
                <a:latin typeface="Georgia"/>
                <a:ea typeface="Songti SC"/>
                <a:cs typeface="Songti SC"/>
              </a:rPr>
              <a:t>谢谢 · 逸凡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43600"/>
            <a:ext cx="10543032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C8C8C"/>
                </a:solidFill>
                <a:latin typeface="Georgia"/>
                <a:ea typeface="Songti SC"/>
                <a:cs typeface="Songti SC"/>
              </a:rPr>
              <a:t>纯白背景。两行黑字居中，最后一行暖金色。留白超过80%。安静收束。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
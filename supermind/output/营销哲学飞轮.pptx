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2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3A3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850392"/>
            <a:ext cx="12191695" cy="4572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54864"/>
            <a:ext cx="11277295" cy="420624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营销哲学飞轮：六大哲学 × 行动循环 × 现实检验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93776"/>
            <a:ext cx="11277295" cy="274320"/>
          </a:xfrm>
          <a:prstGeom prst="rect">
            <a:avLst/>
          </a:prstGeom>
          <a:noFill/>
        </p:spPr>
        <p:txBody>
          <a:bodyPr wrap="square" anchor="ctr" lIns="54864" rIns="54864" tIns="36576" bIns="36576">
            <a:spAutoFit/>
          </a:bodyPr>
          <a:lstStyle/>
          <a:p>
            <a:pPr algn="ctr"/>
            <a:r>
              <a:rPr sz="950" b="0">
                <a:solidFill>
                  <a:srgbClr val="E8E0CF"/>
                </a:solidFill>
                <a:latin typeface="Microsoft YaHei"/>
                <a:ea typeface="Microsoft YaHei"/>
              </a:rPr>
              <a:t>以人的尊严为基石，在价值张力中不断创造更好的生活可能性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65760" y="960120"/>
            <a:ext cx="3749039" cy="1051560"/>
          </a:xfrm>
          <a:prstGeom prst="roundRect">
            <a:avLst>
              <a:gd name="adj" fmla="val 5500"/>
            </a:avLst>
          </a:prstGeom>
          <a:solidFill>
            <a:srgbClr val="FFFCF2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960120"/>
            <a:ext cx="3749039" cy="1051560"/>
          </a:xfrm>
          <a:prstGeom prst="rect">
            <a:avLst/>
          </a:prstGeom>
          <a:noFill/>
        </p:spPr>
        <p:txBody>
          <a:bodyPr wrap="square" anchor="t" lIns="109728" rIns="73152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4A3B22"/>
                </a:solidFill>
                <a:latin typeface="Microsoft YaHei"/>
                <a:ea typeface="Microsoft YaHei"/>
              </a:rPr>
              <a:t>① 消费者与人的真实生活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行为与选择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认知与信念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情感与需求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生活质量与幸福感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24528" y="960120"/>
            <a:ext cx="3749039" cy="1051560"/>
          </a:xfrm>
          <a:prstGeom prst="roundRect">
            <a:avLst>
              <a:gd name="adj" fmla="val 5500"/>
            </a:avLst>
          </a:prstGeom>
          <a:solidFill>
            <a:srgbClr val="FFFCF2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24528" y="960120"/>
            <a:ext cx="3749039" cy="1051560"/>
          </a:xfrm>
          <a:prstGeom prst="rect">
            <a:avLst/>
          </a:prstGeom>
          <a:noFill/>
        </p:spPr>
        <p:txBody>
          <a:bodyPr wrap="square" anchor="t" lIns="109728" rIns="73152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4A3B22"/>
                </a:solidFill>
                <a:latin typeface="Microsoft YaHei"/>
                <a:ea typeface="Microsoft YaHei"/>
              </a:rPr>
              <a:t>② 市场与商业环境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竞争格局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行业趋势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商业模式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ROI / 成本 / 增长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83296" y="960120"/>
            <a:ext cx="3749039" cy="1051560"/>
          </a:xfrm>
          <a:prstGeom prst="roundRect">
            <a:avLst>
              <a:gd name="adj" fmla="val 5500"/>
            </a:avLst>
          </a:prstGeom>
          <a:solidFill>
            <a:srgbClr val="FFFCF2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83296" y="960120"/>
            <a:ext cx="3749039" cy="1051560"/>
          </a:xfrm>
          <a:prstGeom prst="rect">
            <a:avLst/>
          </a:prstGeom>
          <a:noFill/>
        </p:spPr>
        <p:txBody>
          <a:bodyPr wrap="square" anchor="t" lIns="109728" rIns="73152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4A3B22"/>
                </a:solidFill>
                <a:latin typeface="Microsoft YaHei"/>
                <a:ea typeface="Microsoft YaHei"/>
              </a:rPr>
              <a:t>③ 社会与文化环境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文化价值观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社会规范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舆论与公共议题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群体与身份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5760" y="2103120"/>
            <a:ext cx="3749039" cy="1051560"/>
          </a:xfrm>
          <a:prstGeom prst="roundRect">
            <a:avLst>
              <a:gd name="adj" fmla="val 5500"/>
            </a:avLst>
          </a:prstGeom>
          <a:solidFill>
            <a:srgbClr val="FFFCF2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2103120"/>
            <a:ext cx="3749039" cy="1051560"/>
          </a:xfrm>
          <a:prstGeom prst="rect">
            <a:avLst/>
          </a:prstGeom>
          <a:noFill/>
        </p:spPr>
        <p:txBody>
          <a:bodyPr wrap="square" anchor="t" lIns="109728" rIns="73152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4A3B22"/>
                </a:solidFill>
                <a:latin typeface="Microsoft YaHei"/>
                <a:ea typeface="Microsoft YaHei"/>
              </a:rPr>
              <a:t>④ 技术与媒介环境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技术变革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媒介生态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数据与算法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信息流动方式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224528" y="2103120"/>
            <a:ext cx="3749039" cy="1051560"/>
          </a:xfrm>
          <a:prstGeom prst="roundRect">
            <a:avLst>
              <a:gd name="adj" fmla="val 5500"/>
            </a:avLst>
          </a:prstGeom>
          <a:solidFill>
            <a:srgbClr val="FFFCF2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24528" y="2103120"/>
            <a:ext cx="3749039" cy="1051560"/>
          </a:xfrm>
          <a:prstGeom prst="rect">
            <a:avLst/>
          </a:prstGeom>
          <a:noFill/>
        </p:spPr>
        <p:txBody>
          <a:bodyPr wrap="square" anchor="t" lIns="109728" rIns="73152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4A3B22"/>
                </a:solidFill>
                <a:latin typeface="Microsoft YaHei"/>
                <a:ea typeface="Microsoft YaHei"/>
              </a:rPr>
              <a:t>⑤ 自然与资源环境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生态与可持续性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资源与能源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环境影响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未来代价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83296" y="2103120"/>
            <a:ext cx="3749039" cy="1051560"/>
          </a:xfrm>
          <a:prstGeom prst="roundRect">
            <a:avLst>
              <a:gd name="adj" fmla="val 5500"/>
            </a:avLst>
          </a:prstGeom>
          <a:solidFill>
            <a:srgbClr val="FFFCF2"/>
          </a:solidFill>
          <a:ln w="1905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83296" y="2103120"/>
            <a:ext cx="3749039" cy="1051560"/>
          </a:xfrm>
          <a:prstGeom prst="rect">
            <a:avLst/>
          </a:prstGeom>
          <a:noFill/>
        </p:spPr>
        <p:txBody>
          <a:bodyPr wrap="square" anchor="t" lIns="109728" rIns="73152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100" b="1">
                <a:solidFill>
                  <a:srgbClr val="4A3B22"/>
                </a:solidFill>
                <a:latin typeface="Microsoft YaHei"/>
                <a:ea typeface="Microsoft YaHei"/>
              </a:rPr>
              <a:t>⑥ 长期与系统影响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品牌长期信任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社会长期影响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代际与文明</a:t>
            </a:r>
          </a:p>
          <a:p>
            <a:pPr algn="l">
              <a:spcAft>
                <a:spcPts val="150"/>
              </a:spcAft>
            </a:pPr>
            <a:r>
              <a:rPr sz="950" b="0">
                <a:solidFill>
                  <a:srgbClr val="5A4F3E"/>
                </a:solidFill>
                <a:latin typeface="Microsoft YaHei"/>
                <a:ea typeface="Microsoft YaHei"/>
              </a:rPr>
              <a:t>•  系统性后果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71703" y="32461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 w="1905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1703" y="3246120"/>
            <a:ext cx="2121408" cy="914400"/>
          </a:xfrm>
          <a:prstGeom prst="rect">
            <a:avLst/>
          </a:prstGeom>
          <a:noFill/>
        </p:spPr>
        <p:txBody>
          <a:bodyPr wrap="square" anchor="t" lIns="64008" rIns="54864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Microsoft YaHei"/>
                <a:ea typeface="Microsoft YaHei"/>
              </a:rPr>
              <a:t>① 探索与假设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观察现实，发现问题与机会</a:t>
            </a:r>
          </a:p>
          <a:p>
            <a:pPr algn="l"/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形成初步假设与价值主张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03423" y="32461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 w="1905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03423" y="3246120"/>
            <a:ext cx="2121408" cy="914400"/>
          </a:xfrm>
          <a:prstGeom prst="rect">
            <a:avLst/>
          </a:prstGeom>
          <a:noFill/>
        </p:spPr>
        <p:txBody>
          <a:bodyPr wrap="square" anchor="t" lIns="64008" rIns="54864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Microsoft YaHei"/>
                <a:ea typeface="Microsoft YaHei"/>
              </a:rPr>
              <a:t>② 行动与实验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设计方案与原型</a:t>
            </a:r>
          </a:p>
          <a:p>
            <a:pPr algn="l"/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小规模实验，进入真实场景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35143" y="32461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 w="1905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35143" y="3246120"/>
            <a:ext cx="2121408" cy="914400"/>
          </a:xfrm>
          <a:prstGeom prst="rect">
            <a:avLst/>
          </a:prstGeom>
          <a:noFill/>
        </p:spPr>
        <p:txBody>
          <a:bodyPr wrap="square" anchor="t" lIns="64008" rIns="54864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Microsoft YaHei"/>
                <a:ea typeface="Microsoft YaHei"/>
              </a:rPr>
              <a:t>③ 经验与学习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收集数据与反馈</a:t>
            </a:r>
          </a:p>
          <a:p>
            <a:pPr algn="l"/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理解用户与情境，形成洞察与新认知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6863" y="32461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 w="1905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66863" y="3246120"/>
            <a:ext cx="2121408" cy="914400"/>
          </a:xfrm>
          <a:prstGeom prst="rect">
            <a:avLst/>
          </a:prstGeom>
          <a:noFill/>
        </p:spPr>
        <p:txBody>
          <a:bodyPr wrap="square" anchor="t" lIns="64008" rIns="54864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Microsoft YaHei"/>
                <a:ea typeface="Microsoft YaHei"/>
              </a:rPr>
              <a:t>④ 反思与修正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反思假设与方案</a:t>
            </a:r>
          </a:p>
          <a:p>
            <a:pPr algn="l"/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修正价值判断与方向，更新认知与行动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698583" y="3246120"/>
            <a:ext cx="2121408" cy="914400"/>
          </a:xfrm>
          <a:prstGeom prst="roundRect">
            <a:avLst>
              <a:gd name="adj" fmla="val 8000"/>
            </a:avLst>
          </a:prstGeom>
          <a:solidFill>
            <a:srgbClr val="F2F7FC"/>
          </a:solidFill>
          <a:ln w="19050">
            <a:solidFill>
              <a:srgbClr val="2E5A8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98583" y="3246120"/>
            <a:ext cx="2121408" cy="914400"/>
          </a:xfrm>
          <a:prstGeom prst="rect">
            <a:avLst/>
          </a:prstGeom>
          <a:noFill/>
        </p:spPr>
        <p:txBody>
          <a:bodyPr wrap="square" anchor="t" lIns="64008" rIns="54864" bIns="36576">
            <a:spAutoFit/>
          </a:bodyPr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1F4E79"/>
                </a:solidFill>
                <a:latin typeface="Microsoft YaHei"/>
                <a:ea typeface="Microsoft YaHei"/>
              </a:rPr>
              <a:t>⑤ 升级与再创造</a:t>
            </a:r>
          </a:p>
          <a:p>
            <a:pPr algn="l">
              <a:spcAft>
                <a:spcPts val="100"/>
              </a:spcAft>
            </a:pPr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基于洞察与学习，优化方案</a:t>
            </a:r>
          </a:p>
          <a:p>
            <a:pPr algn="l"/>
            <a:r>
              <a:rPr sz="900" b="0">
                <a:solidFill>
                  <a:srgbClr val="33506B"/>
                </a:solidFill>
                <a:latin typeface="Microsoft YaHei"/>
                <a:ea typeface="Microsoft YaHei"/>
              </a:rPr>
              <a:t>创造新的价值与体验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20543" y="3520439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5A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2263" y="3520439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5A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83983" y="3520439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5A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15703" y="3520439"/>
            <a:ext cx="182880" cy="365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2E5A88"/>
                </a:solidFill>
                <a:latin typeface="Microsoft YaHei"/>
                <a:ea typeface="Microsoft YaHei"/>
              </a:rPr>
              <a:t>→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65760" y="4251960"/>
            <a:ext cx="11457432" cy="1143000"/>
          </a:xfrm>
          <a:prstGeom prst="roundRect">
            <a:avLst>
              <a:gd name="adj" fmla="val 3500"/>
            </a:avLst>
          </a:prstGeom>
          <a:solidFill>
            <a:srgbClr val="3A322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4283964"/>
            <a:ext cx="11457432" cy="2011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000" b="1">
                <a:solidFill>
                  <a:srgbClr val="F0C75E"/>
                </a:solidFill>
                <a:latin typeface="Microsoft YaHei"/>
                <a:ea typeface="Microsoft YaHei"/>
              </a:rPr>
              <a:t>价值张力内核 —— 在张力中思考：我们究竟在乎什么？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02919" y="4507992"/>
            <a:ext cx="1691640" cy="841248"/>
          </a:xfrm>
          <a:prstGeom prst="roundRect">
            <a:avLst>
              <a:gd name="adj" fmla="val 12000"/>
            </a:avLst>
          </a:prstGeom>
          <a:solidFill>
            <a:srgbClr val="FBE3E3"/>
          </a:solidFill>
          <a:ln w="19050">
            <a:solidFill>
              <a:srgbClr val="B03A3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19" y="4507992"/>
            <a:ext cx="1691640" cy="841248"/>
          </a:xfrm>
          <a:prstGeom prst="rect">
            <a:avLst/>
          </a:prstGeom>
          <a:noFill/>
        </p:spPr>
        <p:txBody>
          <a:bodyPr wrap="square" anchor="t" lIns="54864" rIns="45720" t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B03A3A"/>
                </a:solidFill>
                <a:latin typeface="Microsoft YaHei"/>
                <a:ea typeface="Microsoft YaHei"/>
              </a:rPr>
              <a:t>康德 · 能不能做？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尊重尊严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不把人当工具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诚实透明公平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不可操纵欺骗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258568" y="4507992"/>
            <a:ext cx="1783080" cy="841248"/>
          </a:xfrm>
          <a:prstGeom prst="roundRect">
            <a:avLst>
              <a:gd name="adj" fmla="val 12000"/>
            </a:avLst>
          </a:prstGeom>
          <a:solidFill>
            <a:srgbClr val="F5EAC8"/>
          </a:solidFill>
          <a:ln w="19050">
            <a:solidFill>
              <a:srgbClr val="C9971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258568" y="4507992"/>
            <a:ext cx="1783080" cy="841248"/>
          </a:xfrm>
          <a:prstGeom prst="rect">
            <a:avLst/>
          </a:prstGeom>
          <a:noFill/>
        </p:spPr>
        <p:txBody>
          <a:bodyPr wrap="square" anchor="t" lIns="54864" rIns="45720" t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8A660F"/>
                </a:solidFill>
                <a:latin typeface="Microsoft YaHei"/>
                <a:ea typeface="Microsoft YaHei"/>
              </a:rPr>
              <a:t>亚里士多德 · 值得追求什么？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人的繁荣 eudaimonia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培养实践智慧 phronesis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在情境中判断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将角色与生活方式共同构建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105656" y="4507992"/>
            <a:ext cx="2587752" cy="841248"/>
          </a:xfrm>
          <a:prstGeom prst="roundRect">
            <a:avLst>
              <a:gd name="adj" fmla="val 10000"/>
            </a:avLst>
          </a:prstGeom>
          <a:solidFill>
            <a:srgbClr val="EFE3C3"/>
          </a:solidFill>
          <a:ln w="25400">
            <a:solidFill>
              <a:srgbClr val="B893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105656" y="4507992"/>
            <a:ext cx="2587752" cy="841248"/>
          </a:xfrm>
          <a:prstGeom prst="rect">
            <a:avLst/>
          </a:prstGeom>
          <a:noFill/>
        </p:spPr>
        <p:txBody>
          <a:bodyPr wrap="square" anchor="ctr" lIns="54864" rIns="54864" tIns="27432" bIns="27432">
            <a:spAutoFit/>
          </a:bodyPr>
          <a:lstStyle/>
          <a:p>
            <a:pPr algn="ctr">
              <a:spcAft>
                <a:spcPts val="200"/>
              </a:spcAft>
            </a:pPr>
            <a:r>
              <a:rPr sz="1150" b="1">
                <a:solidFill>
                  <a:srgbClr val="6B4E1F"/>
                </a:solidFill>
                <a:latin typeface="Microsoft YaHei"/>
                <a:ea typeface="Microsoft YaHei"/>
              </a:rPr>
              <a:t>人的尊严 Human Dignity</a:t>
            </a:r>
          </a:p>
          <a:p>
            <a:pPr algn="ctr">
              <a:spcAft>
                <a:spcPts val="10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一切判断的基石</a:t>
            </a:r>
          </a:p>
          <a:p>
            <a:pPr algn="ctr"/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不可逾越的伦理底线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757416" y="4507992"/>
            <a:ext cx="1572768" cy="841248"/>
          </a:xfrm>
          <a:prstGeom prst="roundRect">
            <a:avLst>
              <a:gd name="adj" fmla="val 12000"/>
            </a:avLst>
          </a:prstGeom>
          <a:solidFill>
            <a:srgbClr val="E5D8F0"/>
          </a:solidFill>
          <a:ln w="19050">
            <a:solidFill>
              <a:srgbClr val="7D4F9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757416" y="4507992"/>
            <a:ext cx="1572768" cy="841248"/>
          </a:xfrm>
          <a:prstGeom prst="rect">
            <a:avLst/>
          </a:prstGeom>
          <a:noFill/>
        </p:spPr>
        <p:txBody>
          <a:bodyPr wrap="square" anchor="t" lIns="54864" rIns="45720" t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7D4F9E"/>
                </a:solidFill>
                <a:latin typeface="Microsoft YaHei"/>
                <a:ea typeface="Microsoft YaHei"/>
              </a:rPr>
              <a:t>尼采 · 为什么它值得？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批判旧道德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拥抱权力生命身体塑造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直面一切既有价值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创造新可能性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394192" y="4507992"/>
            <a:ext cx="1444752" cy="841248"/>
          </a:xfrm>
          <a:prstGeom prst="roundRect">
            <a:avLst>
              <a:gd name="adj" fmla="val 12000"/>
            </a:avLst>
          </a:prstGeom>
          <a:solidFill>
            <a:srgbClr val="D9EBD9"/>
          </a:solidFill>
          <a:ln w="19050">
            <a:solidFill>
              <a:srgbClr val="3F8F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94192" y="4507992"/>
            <a:ext cx="1444752" cy="841248"/>
          </a:xfrm>
          <a:prstGeom prst="rect">
            <a:avLst/>
          </a:prstGeom>
          <a:noFill/>
        </p:spPr>
        <p:txBody>
          <a:bodyPr wrap="square" anchor="t" lIns="54864" rIns="45720" t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2E6E2E"/>
                </a:solidFill>
                <a:latin typeface="Microsoft YaHei"/>
                <a:ea typeface="Microsoft YaHei"/>
              </a:rPr>
              <a:t>老子 · 真的需要三分吗？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天下皆知美之为斯恶已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超越二元对立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道法自然顺势而为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无为而无不为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9902952" y="4507992"/>
            <a:ext cx="1783080" cy="841248"/>
          </a:xfrm>
          <a:prstGeom prst="roundRect">
            <a:avLst>
              <a:gd name="adj" fmla="val 12000"/>
            </a:avLst>
          </a:prstGeom>
          <a:solidFill>
            <a:srgbClr val="EDDCC8"/>
          </a:solidFill>
          <a:ln w="19050">
            <a:solidFill>
              <a:srgbClr val="8A62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02952" y="4507992"/>
            <a:ext cx="1783080" cy="841248"/>
          </a:xfrm>
          <a:prstGeom prst="rect">
            <a:avLst/>
          </a:prstGeom>
          <a:noFill/>
        </p:spPr>
        <p:txBody>
          <a:bodyPr wrap="square" anchor="t" lIns="54864" rIns="45720" tIns="36576" bIns="27432">
            <a:spAutoFit/>
          </a:bodyPr>
          <a:lstStyle/>
          <a:p>
            <a:pPr algn="l">
              <a:spcAft>
                <a:spcPts val="200"/>
              </a:spcAft>
            </a:pPr>
            <a:r>
              <a:rPr sz="950" b="1">
                <a:solidFill>
                  <a:srgbClr val="6B4A2E"/>
                </a:solidFill>
                <a:latin typeface="Microsoft YaHei"/>
                <a:ea typeface="Microsoft YaHei"/>
              </a:rPr>
              <a:t>功利主义 · 结果如何？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最大化总体幸福 / 效用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衡量幸福与痛苦比较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短期 vs 长期</a:t>
            </a:r>
          </a:p>
          <a:p>
            <a:pPr algn="l">
              <a:spcAft>
                <a:spcPts val="50"/>
              </a:spcAft>
            </a:pPr>
            <a:r>
              <a:rPr sz="900" b="0">
                <a:solidFill>
                  <a:srgbClr val="4A3B22"/>
                </a:solidFill>
                <a:latin typeface="Microsoft YaHei"/>
                <a:ea typeface="Microsoft YaHei"/>
              </a:rPr>
              <a:t>社会与未来影响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65760" y="5440680"/>
            <a:ext cx="6035040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65760" y="5440680"/>
            <a:ext cx="6035040" cy="914400"/>
          </a:xfrm>
          <a:prstGeom prst="rect">
            <a:avLst/>
          </a:prstGeom>
          <a:noFill/>
        </p:spPr>
        <p:txBody>
          <a:bodyPr wrap="square" anchor="t" lIns="109728" rIns="73152" tIns="54864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4A3B22"/>
                </a:solidFill>
                <a:latin typeface="Microsoft YaHei"/>
                <a:ea typeface="Microsoft YaHei"/>
              </a:rPr>
              <a:t>六者关系说明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康德守住伦理底线 → 亚里士多德指引好生活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尼采质疑价值来源 → 老子松动二元对立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功利主义让思想进入行动，在循环中学习进化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总结：六者共同构成持续自我修正与创造的哲学飞轮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6583680" y="5440680"/>
            <a:ext cx="5239512" cy="9144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C9C2B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583680" y="5440680"/>
            <a:ext cx="5239512" cy="914400"/>
          </a:xfrm>
          <a:prstGeom prst="rect">
            <a:avLst/>
          </a:prstGeom>
          <a:noFill/>
        </p:spPr>
        <p:txBody>
          <a:bodyPr wrap="square" anchor="t" lIns="109728" rIns="73152" tIns="54864" bIns="36576">
            <a:spAutoFit/>
          </a:bodyPr>
          <a:lstStyle/>
          <a:p>
            <a:pPr algn="l">
              <a:spcAft>
                <a:spcPts val="250"/>
              </a:spcAft>
            </a:pPr>
            <a:r>
              <a:rPr sz="1000" b="1">
                <a:solidFill>
                  <a:srgbClr val="4A3B22"/>
                </a:solidFill>
                <a:latin typeface="Microsoft YaHei"/>
                <a:ea typeface="Microsoft YaHei"/>
              </a:rPr>
              <a:t>飞轮如何运转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价值张力内核 → 形成判断 → 杜威行动循环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→ 进入实践 → 功利主义检验 → 观察结果</a:t>
            </a:r>
          </a:p>
          <a:p>
            <a:pPr algn="l">
              <a:spcAft>
                <a:spcPts val="150"/>
              </a:spcAft>
            </a:pPr>
            <a:r>
              <a:rPr sz="900" b="0">
                <a:solidFill>
                  <a:srgbClr val="4A4438"/>
                </a:solidFill>
                <a:latin typeface="Microsoft YaHei"/>
                <a:ea typeface="Microsoft YaHei"/>
              </a:rPr>
              <a:t>→ 反馈修正 → 升级再创造 → 产生新判断 ↺</a:t>
            </a:r>
          </a:p>
        </p:txBody>
      </p:sp>
      <p:sp>
        <p:nvSpPr>
          <p:cNvPr id="51" name="Rectangle 50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2323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65760" y="6400800"/>
            <a:ext cx="11460175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0C75E"/>
                </a:solidFill>
                <a:latin typeface="Microsoft YaHei"/>
                <a:ea typeface="Microsoft YaHei"/>
              </a:rPr>
              <a:t>◎ 核心目的：</a:t>
            </a: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用商业的力量，创造更多人愿意选择并因此过上更好生活的现实可能性。</a:t>
            </a:r>
          </a:p>
          <a:p>
            <a:pPr algn="ctr"/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不是影响选择，而是创造选择；</a:t>
            </a:r>
            <a:r>
              <a:rPr sz="950" b="0">
                <a:solidFill>
                  <a:srgbClr val="FFFFFF"/>
                </a:solidFill>
                <a:latin typeface="Microsoft YaHei"/>
                <a:ea typeface="Microsoft YaHei"/>
              </a:rPr>
              <a:t>不是追求短期转化，而是长期价值与人类繁荣。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营销哲学飞轮</dc:title>
  <dc:subject/>
  <dc:creator>OpenClaw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